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71" r:id="rId4"/>
    <p:sldId id="260" r:id="rId5"/>
    <p:sldId id="261" r:id="rId6"/>
    <p:sldId id="272" r:id="rId7"/>
    <p:sldId id="268" r:id="rId8"/>
    <p:sldId id="265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2C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90F3C3-4663-4B48-B943-E93C6C150ED8}" v="2780" dt="2026-03-18T20:08:39.5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ight bulb with gears&#10;&#10;AI-generated content may be incorrect.">
            <a:extLst>
              <a:ext uri="{FF2B5EF4-FFF2-40B4-BE49-F238E27FC236}">
                <a16:creationId xmlns:a16="http://schemas.microsoft.com/office/drawing/2014/main" id="{EE71D35E-5CF5-B348-64EC-E073FA0FE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622" y="4740492"/>
            <a:ext cx="1961322" cy="1972366"/>
          </a:xfrm>
          <a:prstGeom prst="rect">
            <a:avLst/>
          </a:prstGeom>
        </p:spPr>
      </p:pic>
      <p:pic>
        <p:nvPicPr>
          <p:cNvPr id="3" name="Picture 2" descr="A drawing of a project&#10;&#10;AI-generated content may be incorrect.">
            <a:extLst>
              <a:ext uri="{FF2B5EF4-FFF2-40B4-BE49-F238E27FC236}">
                <a16:creationId xmlns:a16="http://schemas.microsoft.com/office/drawing/2014/main" id="{98F92CE5-AB88-E7EF-B740-0336B412E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9" y="296251"/>
            <a:ext cx="1789734" cy="1789734"/>
          </a:xfrm>
          <a:prstGeom prst="rect">
            <a:avLst/>
          </a:prstGeom>
        </p:spPr>
      </p:pic>
      <p:pic>
        <p:nvPicPr>
          <p:cNvPr id="6" name="Picture 5" descr="A close up of a sign&#10;&#10;AI-generated content may be incorrect.">
            <a:extLst>
              <a:ext uri="{FF2B5EF4-FFF2-40B4-BE49-F238E27FC236}">
                <a16:creationId xmlns:a16="http://schemas.microsoft.com/office/drawing/2014/main" id="{DA887DFA-4666-8FED-0ACD-13A01615DB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3499" y="1839303"/>
            <a:ext cx="5364843" cy="3190441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99691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putting their hands together&#10;&#10;AI-generated content may be incorrect.">
            <a:extLst>
              <a:ext uri="{FF2B5EF4-FFF2-40B4-BE49-F238E27FC236}">
                <a16:creationId xmlns:a16="http://schemas.microsoft.com/office/drawing/2014/main" id="{ABB26BED-9BB5-90EF-EFDE-BBB44B2FC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43" y="680"/>
            <a:ext cx="12202885" cy="68566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6A1D22-4B3C-5710-2D08-76FEA745AA9C}"/>
              </a:ext>
            </a:extLst>
          </p:cNvPr>
          <p:cNvSpPr txBox="1"/>
          <p:nvPr/>
        </p:nvSpPr>
        <p:spPr>
          <a:xfrm>
            <a:off x="7267791" y="975454"/>
            <a:ext cx="4920344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>
                <a:latin typeface="Book Antiqua"/>
              </a:rPr>
              <a:t>ENSE 281 GROUP PROJECT</a:t>
            </a:r>
          </a:p>
          <a:p>
            <a:pPr algn="ctr"/>
            <a:r>
              <a:rPr lang="en-US" sz="2800" b="1" i="1" dirty="0">
                <a:latin typeface="Book Antiqua"/>
                <a:ea typeface="+mn-lt"/>
                <a:cs typeface="+mn-lt"/>
              </a:rPr>
              <a:t>Project</a:t>
            </a:r>
            <a:r>
              <a:rPr lang="en-US" sz="2800" b="1" i="1" dirty="0">
                <a:latin typeface="Book Antiqua"/>
              </a:rPr>
              <a:t> Description: Design &amp; Develop A Small To Medium Scaled, Web-Based Software Application</a:t>
            </a:r>
            <a:endParaRPr lang="en-US"/>
          </a:p>
          <a:p>
            <a:pPr algn="ctr"/>
            <a:endParaRPr lang="en-US" sz="2800" b="1" dirty="0">
              <a:latin typeface="Book Antiqua"/>
            </a:endParaRPr>
          </a:p>
          <a:p>
            <a:pPr algn="ctr"/>
            <a:r>
              <a:rPr lang="en-US" sz="2800" b="1" i="1" u="sng" dirty="0">
                <a:latin typeface="Book Antiqua"/>
              </a:rPr>
              <a:t>WINTER 2026 - GROUP E</a:t>
            </a:r>
            <a:endParaRPr lang="en-US" b="1"/>
          </a:p>
          <a:p>
            <a:pPr algn="ctr"/>
            <a:endParaRPr lang="en-US" sz="2800" i="1" dirty="0">
              <a:latin typeface="Book Antiqua"/>
            </a:endParaRPr>
          </a:p>
          <a:p>
            <a:pPr marL="285750" indent="-285750" algn="ctr">
              <a:buFont typeface="Calibri"/>
              <a:buChar char="-"/>
            </a:pPr>
            <a:r>
              <a:rPr lang="en-US" sz="2800" i="1" dirty="0">
                <a:latin typeface="Book Antiqua"/>
              </a:rPr>
              <a:t>Ali Abdullah</a:t>
            </a:r>
          </a:p>
          <a:p>
            <a:pPr marL="285750" indent="-285750" algn="ctr">
              <a:buFont typeface="Calibri"/>
              <a:buChar char="-"/>
            </a:pPr>
            <a:r>
              <a:rPr lang="en-US" sz="2800" i="1" err="1">
                <a:latin typeface="Book Antiqua"/>
                <a:ea typeface="+mn-lt"/>
                <a:cs typeface="+mn-lt"/>
              </a:rPr>
              <a:t>Nyabijek</a:t>
            </a:r>
            <a:r>
              <a:rPr lang="en-US" sz="2800" i="1" dirty="0">
                <a:latin typeface="Book Antiqua"/>
                <a:ea typeface="+mn-lt"/>
                <a:cs typeface="+mn-lt"/>
              </a:rPr>
              <a:t> Gatdet</a:t>
            </a:r>
          </a:p>
          <a:p>
            <a:pPr marL="285750" indent="-285750" algn="ctr">
              <a:buFont typeface="Calibri"/>
              <a:buChar char="-"/>
            </a:pPr>
            <a:r>
              <a:rPr lang="en-US" sz="2800" i="1" err="1">
                <a:latin typeface="Book Antiqua"/>
              </a:rPr>
              <a:t>Chiemego</a:t>
            </a:r>
            <a:r>
              <a:rPr lang="en-US" sz="2800" i="1" dirty="0">
                <a:latin typeface="Book Antiqua"/>
              </a:rPr>
              <a:t> Emmanuel</a:t>
            </a:r>
          </a:p>
          <a:p>
            <a:pPr marL="285750" indent="-285750" algn="ctr">
              <a:buFont typeface="Calibri"/>
              <a:buChar char="-"/>
            </a:pPr>
            <a:r>
              <a:rPr lang="en-US" sz="2800" i="1" dirty="0">
                <a:latin typeface="Book Antiqua"/>
              </a:rPr>
              <a:t>Chinedu Godswill</a:t>
            </a:r>
          </a:p>
        </p:txBody>
      </p:sp>
    </p:spTree>
    <p:extLst>
      <p:ext uri="{BB962C8B-B14F-4D97-AF65-F5344CB8AC3E}">
        <p14:creationId xmlns:p14="http://schemas.microsoft.com/office/powerpoint/2010/main" val="3605491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1AAE0-9CDA-EEB4-DD90-EB99643F5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tan building with a arched doorway&#10;&#10;AI-generated content may be incorrect.">
            <a:extLst>
              <a:ext uri="{FF2B5EF4-FFF2-40B4-BE49-F238E27FC236}">
                <a16:creationId xmlns:a16="http://schemas.microsoft.com/office/drawing/2014/main" id="{0292AFDA-731E-E3CF-AE21-7EAB85E60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86" y="423553"/>
            <a:ext cx="11244943" cy="601089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745656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9B7DCC-337D-835A-7C5C-9F5C68125A82}"/>
              </a:ext>
            </a:extLst>
          </p:cNvPr>
          <p:cNvSpPr txBox="1"/>
          <p:nvPr/>
        </p:nvSpPr>
        <p:spPr>
          <a:xfrm>
            <a:off x="4574168" y="204106"/>
            <a:ext cx="3731081" cy="523220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u="sng"/>
              <a:t>PROJECT STATUS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F4AA33-D986-D4E6-FE33-0DF87E6FCC72}"/>
              </a:ext>
            </a:extLst>
          </p:cNvPr>
          <p:cNvSpPr txBox="1"/>
          <p:nvPr/>
        </p:nvSpPr>
        <p:spPr>
          <a:xfrm>
            <a:off x="211640" y="1150018"/>
            <a:ext cx="9195705" cy="5262979"/>
          </a:xfrm>
          <a:prstGeom prst="rect">
            <a:avLst/>
          </a:prstGeom>
          <a:solidFill>
            <a:srgbClr val="FFFF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u="sng">
                <a:latin typeface="Candara"/>
              </a:rPr>
              <a:t>Current Status: Yellow</a:t>
            </a:r>
          </a:p>
          <a:p>
            <a:endParaRPr lang="en-US" sz="2400" b="1" dirty="0">
              <a:latin typeface="Candara"/>
              <a:ea typeface="+mn-lt"/>
              <a:cs typeface="+mn-lt"/>
            </a:endParaRPr>
          </a:p>
          <a:p>
            <a:r>
              <a:rPr lang="en-US" sz="2400" b="1">
                <a:latin typeface="Candara"/>
                <a:ea typeface="+mn-lt"/>
                <a:cs typeface="+mn-lt"/>
              </a:rPr>
              <a:t> </a:t>
            </a:r>
            <a:r>
              <a:rPr lang="en-US" sz="2400">
                <a:latin typeface="Candara"/>
                <a:ea typeface="+mn-lt"/>
                <a:cs typeface="+mn-lt"/>
              </a:rPr>
              <a:t>• Partial implementation of </a:t>
            </a:r>
            <a:r>
              <a:rPr lang="en-US" sz="2400" dirty="0">
                <a:latin typeface="Candara"/>
                <a:ea typeface="+mn-lt"/>
                <a:cs typeface="+mn-lt"/>
              </a:rPr>
              <a:t>designs &amp; logics.</a:t>
            </a:r>
            <a:endParaRPr lang="en-US" sz="2400">
              <a:latin typeface="Candara"/>
            </a:endParaRPr>
          </a:p>
          <a:p>
            <a:r>
              <a:rPr lang="en-US" sz="2400">
                <a:latin typeface="Candara"/>
                <a:ea typeface="+mn-lt"/>
                <a:cs typeface="+mn-lt"/>
              </a:rPr>
              <a:t> • Bargain feature is still under development.</a:t>
            </a:r>
            <a:endParaRPr lang="en-US" sz="2400">
              <a:latin typeface="Candara"/>
            </a:endParaRPr>
          </a:p>
          <a:p>
            <a:r>
              <a:rPr lang="en-US" sz="2400">
                <a:latin typeface="Candara"/>
                <a:ea typeface="+mn-lt"/>
                <a:cs typeface="+mn-lt"/>
              </a:rPr>
              <a:t> • Worker dashboard showing </a:t>
            </a:r>
            <a:r>
              <a:rPr lang="en-US" sz="2400" dirty="0">
                <a:latin typeface="Candara"/>
                <a:ea typeface="+mn-lt"/>
                <a:cs typeface="+mn-lt"/>
              </a:rPr>
              <a:t>gig categories but not access yet.</a:t>
            </a:r>
            <a:endParaRPr lang="en-US" sz="2400">
              <a:latin typeface="Candara"/>
            </a:endParaRPr>
          </a:p>
          <a:p>
            <a:r>
              <a:rPr lang="en-US" sz="2400">
                <a:latin typeface="Candara"/>
                <a:ea typeface="+mn-lt"/>
                <a:cs typeface="+mn-lt"/>
              </a:rPr>
              <a:t> • System unable to classify the on spot and scheduled gigs.</a:t>
            </a:r>
            <a:endParaRPr lang="en-US" sz="2400">
              <a:latin typeface="Candara"/>
            </a:endParaRPr>
          </a:p>
          <a:p>
            <a:r>
              <a:rPr lang="en-US" sz="2400">
                <a:latin typeface="Candara"/>
                <a:ea typeface="+mn-lt"/>
                <a:cs typeface="+mn-lt"/>
              </a:rPr>
              <a:t> • Logics / </a:t>
            </a:r>
            <a:r>
              <a:rPr lang="en-US" sz="2400" dirty="0">
                <a:latin typeface="Candara"/>
                <a:ea typeface="+mn-lt"/>
                <a:cs typeface="+mn-lt"/>
              </a:rPr>
              <a:t>implementations getting failed or mismatched.</a:t>
            </a:r>
            <a:endParaRPr lang="en-US" sz="2400">
              <a:latin typeface="Candara"/>
            </a:endParaRPr>
          </a:p>
          <a:p>
            <a:r>
              <a:rPr lang="en-US" sz="2400">
                <a:latin typeface="Candara"/>
                <a:ea typeface="+mn-lt"/>
                <a:cs typeface="+mn-lt"/>
              </a:rPr>
              <a:t> • Removal of worker accepting or rejecting gig due to code flaws.</a:t>
            </a:r>
          </a:p>
          <a:p>
            <a:endParaRPr lang="en-US" sz="2400" dirty="0">
              <a:latin typeface="Candara"/>
            </a:endParaRPr>
          </a:p>
          <a:p>
            <a:pPr algn="ctr"/>
            <a:r>
              <a:rPr lang="en-US" sz="2400" b="1" u="sng">
                <a:latin typeface="Candara"/>
              </a:rPr>
              <a:t>Major Issues</a:t>
            </a:r>
          </a:p>
          <a:p>
            <a:endParaRPr lang="en-US" sz="2400" b="1" dirty="0">
              <a:latin typeface="Candara"/>
            </a:endParaRPr>
          </a:p>
          <a:p>
            <a:r>
              <a:rPr lang="en-US" sz="2400" dirty="0">
                <a:latin typeface="Candara"/>
              </a:rPr>
              <a:t> • Some deliverables still in early stages, slowing integration.</a:t>
            </a:r>
          </a:p>
          <a:p>
            <a:r>
              <a:rPr lang="en-US" sz="2400">
                <a:latin typeface="Candara"/>
              </a:rPr>
              <a:t> • Insufficient skills due to more material and less practice.</a:t>
            </a:r>
          </a:p>
          <a:p>
            <a:r>
              <a:rPr lang="en-US" sz="2400">
                <a:latin typeface="Candara"/>
              </a:rPr>
              <a:t> • Time management due to personal life and academic workload.</a:t>
            </a:r>
          </a:p>
        </p:txBody>
      </p:sp>
      <p:pic>
        <p:nvPicPr>
          <p:cNvPr id="4" name="Picture 3" descr="A traffic light with different colored circles&#10;&#10;AI-generated content may be incorrect.">
            <a:extLst>
              <a:ext uri="{FF2B5EF4-FFF2-40B4-BE49-F238E27FC236}">
                <a16:creationId xmlns:a16="http://schemas.microsoft.com/office/drawing/2014/main" id="{A80294E1-3E32-07B8-52E1-17B04339F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5729" y="1710417"/>
            <a:ext cx="1898197" cy="4144736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9611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61691C-9DE9-D1B3-A334-BEA985E5E666}"/>
              </a:ext>
            </a:extLst>
          </p:cNvPr>
          <p:cNvSpPr txBox="1"/>
          <p:nvPr/>
        </p:nvSpPr>
        <p:spPr>
          <a:xfrm>
            <a:off x="3777342" y="195943"/>
            <a:ext cx="463731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u="sng"/>
              <a:t>THE BUILD – PAST WEEKS</a:t>
            </a:r>
            <a:endParaRPr lang="en-US" sz="2800" b="1" i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7532EA-CF1C-1AEB-3EDD-1D3A25988ECE}"/>
              </a:ext>
            </a:extLst>
          </p:cNvPr>
          <p:cNvSpPr txBox="1"/>
          <p:nvPr/>
        </p:nvSpPr>
        <p:spPr>
          <a:xfrm>
            <a:off x="527324" y="823449"/>
            <a:ext cx="6887935" cy="60342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400">
                <a:latin typeface="Candara"/>
                <a:ea typeface="+mn-lt"/>
                <a:cs typeface="+mn-lt"/>
              </a:rPr>
              <a:t> Completed core authentication components for dual portal system access and display.</a:t>
            </a:r>
            <a:endParaRPr lang="en-US" sz="2400">
              <a:latin typeface="Candara"/>
            </a:endParaRPr>
          </a:p>
          <a:p>
            <a:pPr>
              <a:buFont typeface="Arial"/>
              <a:buChar char="•"/>
            </a:pPr>
            <a:r>
              <a:rPr lang="en-US" sz="2400">
                <a:latin typeface="Candara"/>
                <a:ea typeface="+mn-lt"/>
                <a:cs typeface="+mn-lt"/>
              </a:rPr>
              <a:t>  Established structural layouts for all pages, except the conversations.</a:t>
            </a:r>
            <a:endParaRPr lang="en-US" sz="2400">
              <a:latin typeface="Candara"/>
            </a:endParaRPr>
          </a:p>
          <a:p>
            <a:pPr>
              <a:buFont typeface="Arial"/>
              <a:buChar char="•"/>
            </a:pPr>
            <a:r>
              <a:rPr lang="en-US" sz="2400">
                <a:latin typeface="Candara"/>
                <a:ea typeface="+mn-lt"/>
                <a:cs typeface="+mn-lt"/>
              </a:rPr>
              <a:t>  Began developing the gig marketplace; posting and browsing layouts.</a:t>
            </a:r>
            <a:endParaRPr lang="en-US" sz="2400">
              <a:latin typeface="Candara"/>
            </a:endParaRPr>
          </a:p>
          <a:p>
            <a:pPr>
              <a:buFont typeface="Arial"/>
              <a:buChar char="•"/>
            </a:pPr>
            <a:r>
              <a:rPr lang="en-US" sz="2400">
                <a:latin typeface="Candara"/>
                <a:ea typeface="+mn-lt"/>
                <a:cs typeface="+mn-lt"/>
              </a:rPr>
              <a:t>  Initiated</a:t>
            </a:r>
            <a:r>
              <a:rPr lang="en-US" sz="2400" dirty="0">
                <a:latin typeface="Candara"/>
                <a:ea typeface="+mn-lt"/>
                <a:cs typeface="+mn-lt"/>
              </a:rPr>
              <a:t> planning and design for bargaining opportunity.</a:t>
            </a:r>
            <a:endParaRPr lang="en-US" sz="2400">
              <a:latin typeface="Candara"/>
            </a:endParaRPr>
          </a:p>
          <a:p>
            <a:pPr>
              <a:buFont typeface="Arial"/>
              <a:buChar char="•"/>
            </a:pPr>
            <a:r>
              <a:rPr lang="en-US" sz="2400">
                <a:latin typeface="Candara"/>
                <a:ea typeface="+mn-lt"/>
                <a:cs typeface="+mn-lt"/>
              </a:rPr>
              <a:t> Improved layout efficiency and visual design across multiple pages.</a:t>
            </a:r>
            <a:endParaRPr lang="en-US" sz="2400">
              <a:latin typeface="Candara"/>
            </a:endParaRPr>
          </a:p>
          <a:p>
            <a:pPr>
              <a:buFont typeface="Arial"/>
              <a:buChar char="•"/>
            </a:pPr>
            <a:r>
              <a:rPr lang="en-US" sz="2400" dirty="0">
                <a:latin typeface="Candara"/>
                <a:ea typeface="+mn-lt"/>
                <a:cs typeface="+mn-lt"/>
              </a:rPr>
              <a:t>  Removed multiple menu options and limited to </a:t>
            </a:r>
            <a:r>
              <a:rPr lang="en-US" sz="2400">
                <a:latin typeface="Candara"/>
                <a:ea typeface="+mn-lt"/>
                <a:cs typeface="+mn-lt"/>
              </a:rPr>
              <a:t>4, making one as a log out button.</a:t>
            </a:r>
            <a:endParaRPr lang="en-US" sz="2400">
              <a:latin typeface="Candara"/>
            </a:endParaRPr>
          </a:p>
          <a:p>
            <a:pPr>
              <a:buFont typeface="Arial"/>
              <a:buChar char="•"/>
            </a:pPr>
            <a:r>
              <a:rPr lang="en-US" sz="2400">
                <a:latin typeface="Candara"/>
                <a:ea typeface="+mn-lt"/>
                <a:cs typeface="+mn-lt"/>
              </a:rPr>
              <a:t>  Learning different things like animations over the internet to make project desirable.</a:t>
            </a:r>
            <a:endParaRPr lang="en-US" sz="2400" dirty="0">
              <a:latin typeface="Candara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>
                <a:latin typeface="Candara"/>
                <a:ea typeface="+mn-lt"/>
                <a:cs typeface="+mn-lt"/>
              </a:rPr>
              <a:t> Constant changes in logic </a:t>
            </a:r>
            <a:r>
              <a:rPr lang="en-US" sz="2400" dirty="0">
                <a:latin typeface="Candara"/>
                <a:ea typeface="+mn-lt"/>
                <a:cs typeface="+mn-lt"/>
              </a:rPr>
              <a:t>implementation due to multiple run failures.</a:t>
            </a:r>
            <a:endParaRPr lang="en-US" sz="2400">
              <a:latin typeface="Candara"/>
            </a:endParaRPr>
          </a:p>
        </p:txBody>
      </p:sp>
      <p:pic>
        <p:nvPicPr>
          <p:cNvPr id="3" name="Picture 2" descr="A computer screen with many colorful text&#10;&#10;AI-generated content may be incorrect.">
            <a:extLst>
              <a:ext uri="{FF2B5EF4-FFF2-40B4-BE49-F238E27FC236}">
                <a16:creationId xmlns:a16="http://schemas.microsoft.com/office/drawing/2014/main" id="{2CA839C2-447D-088D-B2AC-BABEC48FB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924" y="1151164"/>
            <a:ext cx="3507924" cy="518704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8703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C285B4-9E7D-6A1D-78BC-038837013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ooden blocks with black letters&#10;&#10;AI-generated content may be incorrect.">
            <a:extLst>
              <a:ext uri="{FF2B5EF4-FFF2-40B4-BE49-F238E27FC236}">
                <a16:creationId xmlns:a16="http://schemas.microsoft.com/office/drawing/2014/main" id="{BEC67805-9D5B-A648-2D74-562E4CD7F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16" y="457061"/>
            <a:ext cx="10541966" cy="5932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894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089E0A-6284-CB6A-55F5-236450A90D11}"/>
              </a:ext>
            </a:extLst>
          </p:cNvPr>
          <p:cNvSpPr txBox="1"/>
          <p:nvPr/>
        </p:nvSpPr>
        <p:spPr>
          <a:xfrm>
            <a:off x="3712027" y="218303"/>
            <a:ext cx="4767942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u="sng">
                <a:solidFill>
                  <a:schemeClr val="bg1"/>
                </a:solidFill>
              </a:rPr>
              <a:t>THE PLAN – FUTURE WEEKS</a:t>
            </a:r>
            <a:endParaRPr lang="en-US" sz="2800" b="1" i="1" u="sng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16F9C1-B084-7C32-E656-69C44E5F0CA0}"/>
              </a:ext>
            </a:extLst>
          </p:cNvPr>
          <p:cNvSpPr txBox="1"/>
          <p:nvPr/>
        </p:nvSpPr>
        <p:spPr>
          <a:xfrm>
            <a:off x="734153" y="964963"/>
            <a:ext cx="7432220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Candara"/>
                <a:ea typeface="+mn-lt"/>
                <a:cs typeface="+mn-lt"/>
              </a:rPr>
              <a:t> Expand functionality of the gig marketplace (posting, browsing, accepting, rejecting, bargaining).</a:t>
            </a:r>
            <a:endParaRPr lang="en-US" sz="2400" dirty="0">
              <a:solidFill>
                <a:schemeClr val="bg1"/>
              </a:solidFill>
              <a:latin typeface="Candara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400" dirty="0">
              <a:solidFill>
                <a:schemeClr val="bg1"/>
              </a:solidFill>
              <a:latin typeface="Candara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Candara"/>
                <a:ea typeface="+mn-lt"/>
                <a:cs typeface="+mn-lt"/>
              </a:rPr>
              <a:t> Develop the bargain system along with communication means (conversations</a:t>
            </a:r>
            <a:r>
              <a:rPr lang="en-US" sz="2400" dirty="0">
                <a:solidFill>
                  <a:schemeClr val="bg1"/>
                </a:solidFill>
                <a:latin typeface="Candara"/>
                <a:ea typeface="+mn-lt"/>
                <a:cs typeface="+mn-lt"/>
              </a:rPr>
              <a:t> between both parties to decide budget).</a:t>
            </a:r>
            <a:endParaRPr lang="en-US" sz="2400">
              <a:solidFill>
                <a:schemeClr val="bg1"/>
              </a:solidFill>
              <a:latin typeface="Candara"/>
            </a:endParaRPr>
          </a:p>
          <a:p>
            <a:pPr>
              <a:buFont typeface="Arial"/>
              <a:buChar char="•"/>
            </a:pPr>
            <a:endParaRPr lang="en-US" sz="2400" dirty="0">
              <a:solidFill>
                <a:schemeClr val="bg1"/>
              </a:solidFill>
              <a:latin typeface="Candara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Candara"/>
                <a:ea typeface="+mn-lt"/>
                <a:cs typeface="+mn-lt"/>
              </a:rPr>
              <a:t> Finalize menu options for both </a:t>
            </a:r>
            <a:r>
              <a:rPr lang="en-US" sz="2400" dirty="0">
                <a:solidFill>
                  <a:schemeClr val="bg1"/>
                </a:solidFill>
                <a:latin typeface="Candara"/>
                <a:ea typeface="+mn-lt"/>
                <a:cs typeface="+mn-lt"/>
              </a:rPr>
              <a:t>workers and customers (limited </a:t>
            </a:r>
            <a:r>
              <a:rPr lang="en-US" sz="2400">
                <a:solidFill>
                  <a:schemeClr val="bg1"/>
                </a:solidFill>
                <a:latin typeface="Candara"/>
                <a:ea typeface="+mn-lt"/>
                <a:cs typeface="+mn-lt"/>
              </a:rPr>
              <a:t>options but useful, like self-profile, view ratings, chat support etc.).</a:t>
            </a:r>
          </a:p>
          <a:p>
            <a:pPr>
              <a:buFont typeface="Arial"/>
              <a:buChar char="•"/>
            </a:pPr>
            <a:endParaRPr lang="en-US" sz="2400" dirty="0">
              <a:solidFill>
                <a:schemeClr val="bg1"/>
              </a:solidFill>
              <a:latin typeface="Candara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>
                <a:solidFill>
                  <a:schemeClr val="bg1"/>
                </a:solidFill>
                <a:latin typeface="Candara"/>
                <a:ea typeface="+mn-lt"/>
                <a:cs typeface="+mn-lt"/>
              </a:rPr>
              <a:t> Begin implementation and testing between all system components and connections (no bugs and failures expected)</a:t>
            </a:r>
            <a:endParaRPr lang="en-US" sz="2400">
              <a:solidFill>
                <a:schemeClr val="bg1"/>
              </a:solidFill>
              <a:latin typeface="Candara"/>
            </a:endParaRPr>
          </a:p>
        </p:txBody>
      </p:sp>
      <p:pic>
        <p:nvPicPr>
          <p:cNvPr id="3" name="Picture 2" descr="A sculpture of a person sitting on a rock&#10;&#10;AI-generated content may be incorrect.">
            <a:extLst>
              <a:ext uri="{FF2B5EF4-FFF2-40B4-BE49-F238E27FC236}">
                <a16:creationId xmlns:a16="http://schemas.microsoft.com/office/drawing/2014/main" id="{4C0702A1-F038-A0B8-9DF2-E183453F7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6491" y="1263424"/>
            <a:ext cx="2690133" cy="465772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351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35CDCE-79F5-32F1-3818-32A38182A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1061C6-8C60-5FF3-7D2F-3B734F97304F}"/>
              </a:ext>
            </a:extLst>
          </p:cNvPr>
          <p:cNvSpPr txBox="1"/>
          <p:nvPr/>
        </p:nvSpPr>
        <p:spPr>
          <a:xfrm>
            <a:off x="4071256" y="185058"/>
            <a:ext cx="4049486" cy="5232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bg1"/>
                </a:solidFill>
              </a:rPr>
              <a:t>SELF REFLECTION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D4C411-304B-A028-7C1B-2680FE3CEE67}"/>
              </a:ext>
            </a:extLst>
          </p:cNvPr>
          <p:cNvSpPr txBox="1"/>
          <p:nvPr/>
        </p:nvSpPr>
        <p:spPr>
          <a:xfrm>
            <a:off x="3022" y="961984"/>
            <a:ext cx="9443681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,Sans-Serif"/>
              <a:buChar char="Ø"/>
            </a:pPr>
            <a:r>
              <a:rPr lang="en-US" sz="2400" b="1" u="sng" dirty="0">
                <a:latin typeface="Candara"/>
              </a:rPr>
              <a:t>Feelings about activity:</a:t>
            </a:r>
            <a:endParaRPr lang="en-US" sz="2400" b="1">
              <a:latin typeface="Candara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 sz="2400" b="1" i="1" dirty="0">
                <a:latin typeface="Candara"/>
              </a:rPr>
              <a:t>Way more complicated than previous activities , Almost there.</a:t>
            </a:r>
          </a:p>
          <a:p>
            <a:pPr marL="285750" indent="-285750">
              <a:buFont typeface="Wingdings,Sans-Serif"/>
              <a:buChar char="Ø"/>
            </a:pPr>
            <a:r>
              <a:rPr lang="en-US" sz="2400" b="1" u="sng" dirty="0">
                <a:latin typeface="Candara"/>
              </a:rPr>
              <a:t>Most liked part:</a:t>
            </a:r>
            <a:endParaRPr lang="en-US" sz="2400" b="1">
              <a:latin typeface="Candara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 sz="2400" b="1" i="1">
                <a:latin typeface="Candara"/>
              </a:rPr>
              <a:t>Learning animations in coding , Working of codes altogether.</a:t>
            </a:r>
            <a:endParaRPr lang="en-US" sz="2400" b="1" i="1" dirty="0">
              <a:latin typeface="Candara"/>
            </a:endParaRPr>
          </a:p>
          <a:p>
            <a:pPr marL="285750" indent="-285750">
              <a:buFont typeface="Wingdings,Sans-Serif"/>
              <a:buChar char="Ø"/>
            </a:pPr>
            <a:r>
              <a:rPr lang="en-US" sz="2400" b="1" u="sng" dirty="0">
                <a:latin typeface="Candara"/>
              </a:rPr>
              <a:t>Least liked part:</a:t>
            </a:r>
            <a:endParaRPr lang="en-US" sz="2400" b="1">
              <a:latin typeface="Candara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 sz="2400" b="1" i="1">
                <a:latin typeface="Candara"/>
              </a:rPr>
              <a:t>Coding conflicts , Keeping pages integrated.</a:t>
            </a:r>
            <a:endParaRPr lang="en-US" sz="2400" b="1" i="1" dirty="0">
              <a:latin typeface="Candara"/>
            </a:endParaRPr>
          </a:p>
          <a:p>
            <a:pPr marL="285750" indent="-285750">
              <a:buFont typeface="Wingdings,Sans-Serif"/>
              <a:buChar char="Ø"/>
            </a:pPr>
            <a:r>
              <a:rPr lang="en-US" sz="2400" b="1" u="sng" dirty="0">
                <a:latin typeface="Candara"/>
              </a:rPr>
              <a:t>Proud about project:</a:t>
            </a:r>
            <a:endParaRPr lang="en-US" sz="2400" b="1">
              <a:latin typeface="Candara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 sz="2400" b="1" i="1">
                <a:latin typeface="Candara"/>
              </a:rPr>
              <a:t>Learning to be on the same page , Countless efforts , Improvement.</a:t>
            </a:r>
            <a:endParaRPr lang="en-US" sz="2400" b="1" i="1" dirty="0">
              <a:latin typeface="Candara"/>
            </a:endParaRPr>
          </a:p>
          <a:p>
            <a:pPr marL="285750" indent="-285750">
              <a:buFont typeface="Wingdings,Sans-Serif"/>
              <a:buChar char="Ø"/>
            </a:pPr>
            <a:r>
              <a:rPr lang="en-US" sz="2400" b="1" u="sng" dirty="0">
                <a:latin typeface="Candara"/>
              </a:rPr>
              <a:t>Lessons learned: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2400" b="1" i="1">
                <a:latin typeface="Candara"/>
              </a:rPr>
              <a:t>Give your best , Do not stress a lot , Patience is the key.</a:t>
            </a:r>
            <a:endParaRPr lang="en-US" sz="2400" b="1" i="1" dirty="0">
              <a:latin typeface="Candara"/>
            </a:endParaRPr>
          </a:p>
          <a:p>
            <a:pPr marL="285750" indent="-285750">
              <a:buFont typeface="Wingdings,Sans-Serif"/>
              <a:buChar char="Ø"/>
            </a:pPr>
            <a:r>
              <a:rPr lang="en-US" sz="2400" b="1" u="sng" dirty="0">
                <a:latin typeface="Candara"/>
              </a:rPr>
              <a:t>Experience going forward:</a:t>
            </a:r>
            <a:endParaRPr lang="en-US" sz="2400" b="1">
              <a:latin typeface="Candara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 sz="2400" b="1" i="1" dirty="0">
                <a:latin typeface="Candara"/>
              </a:rPr>
              <a:t>Do not take time for granted , Stay connected frequently.</a:t>
            </a:r>
          </a:p>
          <a:p>
            <a:pPr marL="285750" indent="-285750">
              <a:buFont typeface="Wingdings,Sans-Serif"/>
              <a:buChar char="Ø"/>
            </a:pPr>
            <a:r>
              <a:rPr lang="en-US" sz="2400" b="1" u="sng" dirty="0">
                <a:latin typeface="Candara"/>
              </a:rPr>
              <a:t>Help needed further:</a:t>
            </a:r>
            <a:endParaRPr lang="en-US" sz="2400" b="1">
              <a:latin typeface="Candara"/>
            </a:endParaRPr>
          </a:p>
          <a:p>
            <a:pPr marL="742950" lvl="1" indent="-285750">
              <a:buFont typeface="Courier New,monospace"/>
              <a:buChar char="o"/>
            </a:pPr>
            <a:r>
              <a:rPr lang="en-US" sz="2400" b="1" i="1">
                <a:latin typeface="Candara"/>
              </a:rPr>
              <a:t>Practice &amp; enhance coding skills , Manage time efficiently.</a:t>
            </a:r>
            <a:endParaRPr lang="en-US" sz="2400" b="1" i="1" dirty="0">
              <a:latin typeface="Candara"/>
            </a:endParaRPr>
          </a:p>
        </p:txBody>
      </p:sp>
      <p:pic>
        <p:nvPicPr>
          <p:cNvPr id="2" name="Picture 1" descr="A person standing on a mountain&#10;&#10;AI-generated content may be incorrect.">
            <a:extLst>
              <a:ext uri="{FF2B5EF4-FFF2-40B4-BE49-F238E27FC236}">
                <a16:creationId xmlns:a16="http://schemas.microsoft.com/office/drawing/2014/main" id="{DD3C368A-8004-86C0-F9E6-B6CBD5E03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8902" y="1172256"/>
            <a:ext cx="2148568" cy="452437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1826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247ADF-31B9-DC36-444D-B68B27248D67}"/>
              </a:ext>
            </a:extLst>
          </p:cNvPr>
          <p:cNvSpPr txBox="1"/>
          <p:nvPr/>
        </p:nvSpPr>
        <p:spPr>
          <a:xfrm>
            <a:off x="1883228" y="1445079"/>
            <a:ext cx="8436428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latin typeface="Batang"/>
                <a:ea typeface="Batang"/>
              </a:rPr>
              <a:t>Any Questions?</a:t>
            </a:r>
          </a:p>
          <a:p>
            <a:pPr algn="ctr"/>
            <a:endParaRPr lang="en-US" sz="3600" b="1" dirty="0">
              <a:latin typeface="Batang"/>
              <a:ea typeface="Batang"/>
            </a:endParaRPr>
          </a:p>
          <a:p>
            <a:pPr algn="ctr"/>
            <a:r>
              <a:rPr lang="en-US" sz="3600" b="1" dirty="0">
                <a:latin typeface="Batang"/>
                <a:ea typeface="Batang"/>
              </a:rPr>
              <a:t>Any Suggestions?</a:t>
            </a:r>
          </a:p>
          <a:p>
            <a:pPr algn="ctr"/>
            <a:endParaRPr lang="en-US" sz="3600" b="1" dirty="0">
              <a:latin typeface="Batang"/>
              <a:ea typeface="Batang"/>
            </a:endParaRPr>
          </a:p>
          <a:p>
            <a:pPr algn="ctr"/>
            <a:r>
              <a:rPr lang="en-US" sz="3600" b="1" dirty="0">
                <a:latin typeface="Batang"/>
                <a:ea typeface="Batang"/>
              </a:rPr>
              <a:t>Any Specifications?</a:t>
            </a:r>
          </a:p>
          <a:p>
            <a:pPr algn="ctr"/>
            <a:endParaRPr lang="en-US" sz="3600" b="1" dirty="0">
              <a:latin typeface="Batang"/>
              <a:ea typeface="Batang"/>
            </a:endParaRPr>
          </a:p>
          <a:p>
            <a:pPr algn="ctr"/>
            <a:r>
              <a:rPr lang="en-US" sz="3600" b="1" dirty="0">
                <a:latin typeface="Batang"/>
                <a:ea typeface="Batang"/>
              </a:rPr>
              <a:t>Any Recommendations?</a:t>
            </a:r>
          </a:p>
        </p:txBody>
      </p:sp>
    </p:spTree>
    <p:extLst>
      <p:ext uri="{BB962C8B-B14F-4D97-AF65-F5344CB8AC3E}">
        <p14:creationId xmlns:p14="http://schemas.microsoft.com/office/powerpoint/2010/main" val="1760666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6928D1-16D7-C064-93AB-1E80DB8C4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3217" y="560250"/>
            <a:ext cx="4450523" cy="3429414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3" name="Picture 2" descr="A black background with text&#10;&#10;AI-generated content may be incorrect.">
            <a:extLst>
              <a:ext uri="{FF2B5EF4-FFF2-40B4-BE49-F238E27FC236}">
                <a16:creationId xmlns:a16="http://schemas.microsoft.com/office/drawing/2014/main" id="{7165A81C-A77C-A7B8-F7E5-14CEC427D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78" y="563011"/>
            <a:ext cx="4444999" cy="34290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Picture 3" descr="A black and white checkered pattern&#10;&#10;AI-generated content may be incorrect.">
            <a:extLst>
              <a:ext uri="{FF2B5EF4-FFF2-40B4-BE49-F238E27FC236}">
                <a16:creationId xmlns:a16="http://schemas.microsoft.com/office/drawing/2014/main" id="{A516D5F5-2F79-6B31-EBBE-9BD9E43E214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909" t="46774" r="11182" b="5161"/>
          <a:stretch>
            <a:fillRect/>
          </a:stretch>
        </p:blipFill>
        <p:spPr>
          <a:xfrm>
            <a:off x="-1" y="4872935"/>
            <a:ext cx="12203059" cy="164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659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1320</cp:revision>
  <dcterms:created xsi:type="dcterms:W3CDTF">2025-09-30T23:13:53Z</dcterms:created>
  <dcterms:modified xsi:type="dcterms:W3CDTF">2026-03-18T20:08:48Z</dcterms:modified>
</cp:coreProperties>
</file>