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71" r:id="rId4"/>
    <p:sldId id="260" r:id="rId5"/>
    <p:sldId id="272" r:id="rId6"/>
    <p:sldId id="273" r:id="rId7"/>
    <p:sldId id="261" r:id="rId8"/>
    <p:sldId id="268" r:id="rId9"/>
    <p:sldId id="274" r:id="rId10"/>
    <p:sldId id="265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2C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5D2838-6260-47E6-A789-38452C35AA10}" v="3322" dt="2026-03-04T18:57:37.9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hyperlink" Target="https://www.figma.com/design/cxW65NrZoldox5hyApijqS/HomeGigs?node-id=0-1&amp;p=f&amp;t=lhKoRtRkl1LGkHfH-0" TargetMode="External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ight bulb with gears&#10;&#10;AI-generated content may be incorrect.">
            <a:extLst>
              <a:ext uri="{FF2B5EF4-FFF2-40B4-BE49-F238E27FC236}">
                <a16:creationId xmlns:a16="http://schemas.microsoft.com/office/drawing/2014/main" id="{EE71D35E-5CF5-B348-64EC-E073FA0FE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3622" y="4740492"/>
            <a:ext cx="1961322" cy="1972366"/>
          </a:xfrm>
          <a:prstGeom prst="rect">
            <a:avLst/>
          </a:prstGeom>
        </p:spPr>
      </p:pic>
      <p:pic>
        <p:nvPicPr>
          <p:cNvPr id="3" name="Picture 2" descr="A drawing of a project&#10;&#10;AI-generated content may be incorrect.">
            <a:extLst>
              <a:ext uri="{FF2B5EF4-FFF2-40B4-BE49-F238E27FC236}">
                <a16:creationId xmlns:a16="http://schemas.microsoft.com/office/drawing/2014/main" id="{98F92CE5-AB88-E7EF-B740-0336B412E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9" y="296251"/>
            <a:ext cx="1789734" cy="1789734"/>
          </a:xfrm>
          <a:prstGeom prst="rect">
            <a:avLst/>
          </a:prstGeom>
        </p:spPr>
      </p:pic>
      <p:pic>
        <p:nvPicPr>
          <p:cNvPr id="6" name="Picture 5" descr="A close up of a sign&#10;&#10;AI-generated content may be incorrect.">
            <a:extLst>
              <a:ext uri="{FF2B5EF4-FFF2-40B4-BE49-F238E27FC236}">
                <a16:creationId xmlns:a16="http://schemas.microsoft.com/office/drawing/2014/main" id="{DA887DFA-4666-8FED-0ACD-13A01615D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499" y="1839303"/>
            <a:ext cx="5364843" cy="319044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99691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putting their hands together&#10;&#10;AI-generated content may be incorrect.">
            <a:extLst>
              <a:ext uri="{FF2B5EF4-FFF2-40B4-BE49-F238E27FC236}">
                <a16:creationId xmlns:a16="http://schemas.microsoft.com/office/drawing/2014/main" id="{ABB26BED-9BB5-90EF-EFDE-BBB44B2FC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3" y="680"/>
            <a:ext cx="12202885" cy="68566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6A1D22-4B3C-5710-2D08-76FEA745AA9C}"/>
              </a:ext>
            </a:extLst>
          </p:cNvPr>
          <p:cNvSpPr txBox="1"/>
          <p:nvPr/>
        </p:nvSpPr>
        <p:spPr>
          <a:xfrm>
            <a:off x="7267791" y="975454"/>
            <a:ext cx="4920344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dirty="0">
                <a:latin typeface="Book Antiqua"/>
              </a:rPr>
              <a:t>ENSE 281 GROUP PROJECT</a:t>
            </a:r>
          </a:p>
          <a:p>
            <a:pPr algn="ctr"/>
            <a:r>
              <a:rPr lang="en-US" sz="2800" b="1" i="1" dirty="0">
                <a:latin typeface="Book Antiqua"/>
                <a:ea typeface="+mn-lt"/>
                <a:cs typeface="+mn-lt"/>
              </a:rPr>
              <a:t>Project</a:t>
            </a:r>
            <a:r>
              <a:rPr lang="en-US" sz="2800" b="1" i="1" dirty="0">
                <a:latin typeface="Book Antiqua"/>
              </a:rPr>
              <a:t> Description: Design &amp; Develop A Small To Medium Scaled, Web-Based Software Application</a:t>
            </a:r>
            <a:endParaRPr lang="en-US"/>
          </a:p>
          <a:p>
            <a:pPr algn="ctr"/>
            <a:endParaRPr lang="en-US" sz="2800" b="1" dirty="0">
              <a:latin typeface="Book Antiqua"/>
            </a:endParaRPr>
          </a:p>
          <a:p>
            <a:pPr algn="ctr"/>
            <a:r>
              <a:rPr lang="en-US" sz="2800" b="1" i="1" u="sng" dirty="0">
                <a:latin typeface="Book Antiqua"/>
              </a:rPr>
              <a:t>WINTER 2026 - GROUP E</a:t>
            </a:r>
            <a:endParaRPr lang="en-US" b="1"/>
          </a:p>
          <a:p>
            <a:pPr algn="ctr"/>
            <a:endParaRPr lang="en-US" sz="2800" i="1" dirty="0">
              <a:latin typeface="Book Antiqua"/>
            </a:endParaRPr>
          </a:p>
          <a:p>
            <a:pPr marL="285750" indent="-285750" algn="ctr">
              <a:buFont typeface="Calibri"/>
              <a:buChar char="-"/>
            </a:pPr>
            <a:r>
              <a:rPr lang="en-US" sz="2800" i="1" dirty="0">
                <a:latin typeface="Book Antiqua"/>
              </a:rPr>
              <a:t>Ali Abdullah</a:t>
            </a:r>
          </a:p>
          <a:p>
            <a:pPr marL="285750" indent="-285750" algn="ctr">
              <a:buFont typeface="Calibri"/>
              <a:buChar char="-"/>
            </a:pPr>
            <a:r>
              <a:rPr lang="en-US" sz="2800" i="1" err="1">
                <a:latin typeface="Book Antiqua"/>
                <a:ea typeface="+mn-lt"/>
                <a:cs typeface="+mn-lt"/>
              </a:rPr>
              <a:t>Nyabijek</a:t>
            </a:r>
            <a:r>
              <a:rPr lang="en-US" sz="2800" i="1" dirty="0">
                <a:latin typeface="Book Antiqua"/>
                <a:ea typeface="+mn-lt"/>
                <a:cs typeface="+mn-lt"/>
              </a:rPr>
              <a:t> Gatdet</a:t>
            </a:r>
          </a:p>
          <a:p>
            <a:pPr marL="285750" indent="-285750" algn="ctr">
              <a:buFont typeface="Calibri"/>
              <a:buChar char="-"/>
            </a:pPr>
            <a:r>
              <a:rPr lang="en-US" sz="2800" i="1" err="1">
                <a:latin typeface="Book Antiqua"/>
              </a:rPr>
              <a:t>Chiemego</a:t>
            </a:r>
            <a:r>
              <a:rPr lang="en-US" sz="2800" i="1" dirty="0">
                <a:latin typeface="Book Antiqua"/>
              </a:rPr>
              <a:t> Emmanuel</a:t>
            </a:r>
          </a:p>
          <a:p>
            <a:pPr marL="285750" indent="-285750" algn="ctr">
              <a:buFont typeface="Calibri"/>
              <a:buChar char="-"/>
            </a:pPr>
            <a:r>
              <a:rPr lang="en-US" sz="2800" i="1" dirty="0">
                <a:latin typeface="Book Antiqua"/>
              </a:rPr>
              <a:t>Chinedu Godswill</a:t>
            </a:r>
          </a:p>
        </p:txBody>
      </p:sp>
    </p:spTree>
    <p:extLst>
      <p:ext uri="{BB962C8B-B14F-4D97-AF65-F5344CB8AC3E}">
        <p14:creationId xmlns:p14="http://schemas.microsoft.com/office/powerpoint/2010/main" val="3605491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1AAE0-9CDA-EEB4-DD90-EB99643F5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tan building with a arched doorway&#10;&#10;AI-generated content may be incorrect.">
            <a:extLst>
              <a:ext uri="{FF2B5EF4-FFF2-40B4-BE49-F238E27FC236}">
                <a16:creationId xmlns:a16="http://schemas.microsoft.com/office/drawing/2014/main" id="{0292AFDA-731E-E3CF-AE21-7EAB85E60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6" y="423553"/>
            <a:ext cx="11244943" cy="601089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745656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9B7DCC-337D-835A-7C5C-9F5C68125A82}"/>
              </a:ext>
            </a:extLst>
          </p:cNvPr>
          <p:cNvSpPr txBox="1"/>
          <p:nvPr/>
        </p:nvSpPr>
        <p:spPr>
          <a:xfrm>
            <a:off x="3469821" y="204106"/>
            <a:ext cx="5255080" cy="52322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u="sng" dirty="0"/>
              <a:t>LOW FIDELITY PROTOTYPES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F4AA33-D986-D4E6-FE33-0DF87E6FCC72}"/>
              </a:ext>
            </a:extLst>
          </p:cNvPr>
          <p:cNvSpPr txBox="1"/>
          <p:nvPr/>
        </p:nvSpPr>
        <p:spPr>
          <a:xfrm>
            <a:off x="309610" y="2260362"/>
            <a:ext cx="4863192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2400" b="1" dirty="0">
                <a:solidFill>
                  <a:schemeClr val="bg1"/>
                </a:solidFill>
                <a:latin typeface="Candara"/>
              </a:rPr>
              <a:t>Determine system prerequisites and system designing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/>
              <a:buChar char="Ø"/>
            </a:pPr>
            <a:endParaRPr lang="en-US" sz="2400" b="1" dirty="0">
              <a:solidFill>
                <a:schemeClr val="bg1"/>
              </a:solidFill>
              <a:latin typeface="Candara"/>
            </a:endParaRPr>
          </a:p>
          <a:p>
            <a:pPr marL="285750" indent="-285750">
              <a:buFont typeface="Wingdings"/>
              <a:buChar char="Ø"/>
            </a:pPr>
            <a:r>
              <a:rPr lang="en-US" sz="2400" b="1" dirty="0">
                <a:solidFill>
                  <a:schemeClr val="bg1"/>
                </a:solidFill>
                <a:latin typeface="Candara"/>
              </a:rPr>
              <a:t>Three low fidelity prototypes (paper and pencil) to start planning</a:t>
            </a:r>
          </a:p>
          <a:p>
            <a:pPr marL="285750" indent="-285750">
              <a:buFont typeface="Wingdings"/>
              <a:buChar char="Ø"/>
            </a:pPr>
            <a:endParaRPr lang="en-US" sz="2400" b="1" dirty="0">
              <a:solidFill>
                <a:schemeClr val="bg1"/>
              </a:solidFill>
              <a:latin typeface="Candara"/>
            </a:endParaRPr>
          </a:p>
          <a:p>
            <a:pPr marL="285750" indent="-285750">
              <a:buFont typeface="Wingdings"/>
              <a:buChar char="Ø"/>
            </a:pPr>
            <a:r>
              <a:rPr lang="en-US" sz="2400" b="1" dirty="0">
                <a:solidFill>
                  <a:schemeClr val="bg1"/>
                </a:solidFill>
                <a:latin typeface="Candara"/>
              </a:rPr>
              <a:t>Lofi Prototype 01</a:t>
            </a:r>
          </a:p>
        </p:txBody>
      </p:sp>
      <p:pic>
        <p:nvPicPr>
          <p:cNvPr id="5" name="Picture 4" descr="A paper with writing on it&#10;&#10;AI-generated content may be incorrect.">
            <a:extLst>
              <a:ext uri="{FF2B5EF4-FFF2-40B4-BE49-F238E27FC236}">
                <a16:creationId xmlns:a16="http://schemas.microsoft.com/office/drawing/2014/main" id="{54138E49-9361-0428-B551-98E4935340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98" r="474" b="20113"/>
          <a:stretch>
            <a:fillRect/>
          </a:stretch>
        </p:blipFill>
        <p:spPr>
          <a:xfrm>
            <a:off x="6443622" y="1046018"/>
            <a:ext cx="4563522" cy="54856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09611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7000" b="-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45C67A-F58C-7F45-611F-1E07B9009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DEC2D7-CC65-402A-6FD4-9E263B6AB356}"/>
              </a:ext>
            </a:extLst>
          </p:cNvPr>
          <p:cNvSpPr txBox="1"/>
          <p:nvPr/>
        </p:nvSpPr>
        <p:spPr>
          <a:xfrm>
            <a:off x="3469821" y="204106"/>
            <a:ext cx="5255080" cy="52322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u="sng" dirty="0"/>
              <a:t>LOW FIDELITY PROTOTYPES</a:t>
            </a:r>
            <a:endParaRPr lang="en-US" dirty="0"/>
          </a:p>
        </p:txBody>
      </p:sp>
      <p:pic>
        <p:nvPicPr>
          <p:cNvPr id="4" name="Picture 3" descr="A wireframe of a website&#10;&#10;AI-generated content may be incorrect.">
            <a:extLst>
              <a:ext uri="{FF2B5EF4-FFF2-40B4-BE49-F238E27FC236}">
                <a16:creationId xmlns:a16="http://schemas.microsoft.com/office/drawing/2014/main" id="{ABE14ABA-0D15-AA2C-BA37-5AFC42D563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76" t="4722" r="10311" b="9275"/>
          <a:stretch>
            <a:fillRect/>
          </a:stretch>
        </p:blipFill>
        <p:spPr>
          <a:xfrm>
            <a:off x="6433571" y="1049647"/>
            <a:ext cx="4592258" cy="54844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B4C293-3B41-A79E-C041-63252352BE50}"/>
              </a:ext>
            </a:extLst>
          </p:cNvPr>
          <p:cNvSpPr txBox="1"/>
          <p:nvPr/>
        </p:nvSpPr>
        <p:spPr>
          <a:xfrm>
            <a:off x="309610" y="2260362"/>
            <a:ext cx="4863192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2400" b="1" dirty="0">
                <a:solidFill>
                  <a:schemeClr val="bg1"/>
                </a:solidFill>
                <a:latin typeface="Candara"/>
              </a:rPr>
              <a:t>Determine system prerequisites and system designing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/>
              <a:buChar char="Ø"/>
            </a:pPr>
            <a:endParaRPr lang="en-US" sz="2400" b="1" dirty="0">
              <a:solidFill>
                <a:schemeClr val="bg1"/>
              </a:solidFill>
              <a:latin typeface="Candara"/>
            </a:endParaRPr>
          </a:p>
          <a:p>
            <a:pPr marL="285750" indent="-285750">
              <a:buFont typeface="Wingdings"/>
              <a:buChar char="Ø"/>
            </a:pPr>
            <a:r>
              <a:rPr lang="en-US" sz="2400" b="1" dirty="0">
                <a:solidFill>
                  <a:schemeClr val="bg1"/>
                </a:solidFill>
                <a:latin typeface="Candara"/>
              </a:rPr>
              <a:t>Three low fidelity prototypes (paper and pencil) to start planning</a:t>
            </a:r>
          </a:p>
          <a:p>
            <a:pPr marL="285750" indent="-285750">
              <a:buFont typeface="Wingdings"/>
              <a:buChar char="Ø"/>
            </a:pPr>
            <a:endParaRPr lang="en-US" sz="2400" b="1" dirty="0">
              <a:solidFill>
                <a:schemeClr val="bg1"/>
              </a:solidFill>
              <a:latin typeface="Candara"/>
            </a:endParaRPr>
          </a:p>
          <a:p>
            <a:pPr marL="285750" indent="-285750">
              <a:buFont typeface="Wingdings"/>
              <a:buChar char="Ø"/>
            </a:pPr>
            <a:r>
              <a:rPr lang="en-US" sz="2400" b="1" dirty="0">
                <a:solidFill>
                  <a:schemeClr val="bg1"/>
                </a:solidFill>
                <a:latin typeface="Candara"/>
              </a:rPr>
              <a:t>Lofi Prototype 02</a:t>
            </a:r>
          </a:p>
        </p:txBody>
      </p:sp>
    </p:spTree>
    <p:extLst>
      <p:ext uri="{BB962C8B-B14F-4D97-AF65-F5344CB8AC3E}">
        <p14:creationId xmlns:p14="http://schemas.microsoft.com/office/powerpoint/2010/main" val="1158437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7000" b="-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2DE264-B91A-8625-F076-A9C9C1961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90F7BE-FF86-7FBD-48F4-EBC0626E5B5C}"/>
              </a:ext>
            </a:extLst>
          </p:cNvPr>
          <p:cNvSpPr txBox="1"/>
          <p:nvPr/>
        </p:nvSpPr>
        <p:spPr>
          <a:xfrm>
            <a:off x="3469821" y="204106"/>
            <a:ext cx="5255080" cy="52322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u="sng" dirty="0"/>
              <a:t>LOW FIDELITY PROTOTYPES</a:t>
            </a:r>
            <a:endParaRPr lang="en-US" dirty="0"/>
          </a:p>
        </p:txBody>
      </p:sp>
      <p:pic>
        <p:nvPicPr>
          <p:cNvPr id="4" name="Picture 3" descr="A group of paper with writing on it&#10;&#10;AI-generated content may be incorrect.">
            <a:extLst>
              <a:ext uri="{FF2B5EF4-FFF2-40B4-BE49-F238E27FC236}">
                <a16:creationId xmlns:a16="http://schemas.microsoft.com/office/drawing/2014/main" id="{1F6C5013-0A5F-20DC-3C0B-0D51B5CEE5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04" t="6577" r="4507" b="3939"/>
          <a:stretch>
            <a:fillRect/>
          </a:stretch>
        </p:blipFill>
        <p:spPr>
          <a:xfrm>
            <a:off x="6438323" y="1006104"/>
            <a:ext cx="4570609" cy="55533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48EA0C-19CF-3BF7-D754-36C45B447C1F}"/>
              </a:ext>
            </a:extLst>
          </p:cNvPr>
          <p:cNvSpPr txBox="1"/>
          <p:nvPr/>
        </p:nvSpPr>
        <p:spPr>
          <a:xfrm>
            <a:off x="309610" y="2260362"/>
            <a:ext cx="4863192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2400" b="1" dirty="0">
                <a:solidFill>
                  <a:schemeClr val="bg1"/>
                </a:solidFill>
                <a:latin typeface="Candara"/>
              </a:rPr>
              <a:t>Determine system prerequisites and system designing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/>
              <a:buChar char="Ø"/>
            </a:pPr>
            <a:endParaRPr lang="en-US" sz="2400" b="1" dirty="0">
              <a:solidFill>
                <a:schemeClr val="bg1"/>
              </a:solidFill>
              <a:latin typeface="Candara"/>
            </a:endParaRPr>
          </a:p>
          <a:p>
            <a:pPr marL="285750" indent="-285750">
              <a:buFont typeface="Wingdings"/>
              <a:buChar char="Ø"/>
            </a:pPr>
            <a:r>
              <a:rPr lang="en-US" sz="2400" b="1" dirty="0">
                <a:solidFill>
                  <a:schemeClr val="bg1"/>
                </a:solidFill>
                <a:latin typeface="Candara"/>
              </a:rPr>
              <a:t>Three low fidelity prototypes (paper and pencil) to start planning</a:t>
            </a:r>
          </a:p>
          <a:p>
            <a:pPr marL="285750" indent="-285750">
              <a:buFont typeface="Wingdings"/>
              <a:buChar char="Ø"/>
            </a:pPr>
            <a:endParaRPr lang="en-US" sz="2400" b="1" dirty="0">
              <a:solidFill>
                <a:schemeClr val="bg1"/>
              </a:solidFill>
              <a:latin typeface="Candara"/>
            </a:endParaRPr>
          </a:p>
          <a:p>
            <a:pPr marL="285750" indent="-285750">
              <a:buFont typeface="Wingdings"/>
              <a:buChar char="Ø"/>
            </a:pPr>
            <a:r>
              <a:rPr lang="en-US" sz="2400" b="1" dirty="0">
                <a:solidFill>
                  <a:schemeClr val="bg1"/>
                </a:solidFill>
                <a:latin typeface="Candara"/>
              </a:rPr>
              <a:t>Lofi Prototype 03</a:t>
            </a:r>
          </a:p>
        </p:txBody>
      </p:sp>
    </p:spTree>
    <p:extLst>
      <p:ext uri="{BB962C8B-B14F-4D97-AF65-F5344CB8AC3E}">
        <p14:creationId xmlns:p14="http://schemas.microsoft.com/office/powerpoint/2010/main" val="4071508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61691C-9DE9-D1B3-A334-BEA985E5E666}"/>
              </a:ext>
            </a:extLst>
          </p:cNvPr>
          <p:cNvSpPr txBox="1"/>
          <p:nvPr/>
        </p:nvSpPr>
        <p:spPr>
          <a:xfrm>
            <a:off x="3777342" y="195943"/>
            <a:ext cx="4637314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u="sng" dirty="0"/>
              <a:t>HIGH FIDELITY PROTOTYPE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7532EA-CF1C-1AEB-3EDD-1D3A25988ECE}"/>
              </a:ext>
            </a:extLst>
          </p:cNvPr>
          <p:cNvSpPr txBox="1"/>
          <p:nvPr/>
        </p:nvSpPr>
        <p:spPr>
          <a:xfrm>
            <a:off x="255181" y="1356848"/>
            <a:ext cx="4863192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2400" b="1" dirty="0">
                <a:latin typeface="Candara"/>
              </a:rPr>
              <a:t>One high fidelity prototype using Figma (Design and function) and Gemini (AI to create photos)</a:t>
            </a:r>
          </a:p>
          <a:p>
            <a:pPr marL="285750" indent="-285750">
              <a:buFont typeface="Wingdings"/>
              <a:buChar char="Ø"/>
            </a:pPr>
            <a:endParaRPr lang="en-US" sz="2400" b="1" dirty="0">
              <a:latin typeface="Candara"/>
            </a:endParaRPr>
          </a:p>
          <a:p>
            <a:pPr marL="285750" indent="-285750">
              <a:buFont typeface="Wingdings"/>
              <a:buChar char="Ø"/>
            </a:pPr>
            <a:r>
              <a:rPr lang="en-US" sz="2400" b="1" dirty="0">
                <a:latin typeface="Candara"/>
              </a:rPr>
              <a:t>Functional MVPs: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 b="1" dirty="0">
                <a:latin typeface="Candara"/>
              </a:rPr>
              <a:t>Posting gigs by customers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 b="1" dirty="0">
                <a:latin typeface="Candara"/>
              </a:rPr>
              <a:t>Accepting gigs by worker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 b="1" dirty="0">
                <a:latin typeface="Candara"/>
              </a:rPr>
              <a:t>Contact between both sides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 b="1" dirty="0">
                <a:latin typeface="Candara"/>
              </a:rPr>
              <a:t>Price bargaining ability</a:t>
            </a:r>
          </a:p>
          <a:p>
            <a:pPr marL="285750" indent="-285750">
              <a:buFont typeface="Wingdings"/>
              <a:buChar char="Ø"/>
            </a:pPr>
            <a:endParaRPr lang="en-US" sz="2400" b="1" dirty="0">
              <a:latin typeface="Candara"/>
            </a:endParaRPr>
          </a:p>
          <a:p>
            <a:pPr marL="285750" indent="-285750">
              <a:buFont typeface="Wingdings"/>
              <a:buChar char="Ø"/>
            </a:pPr>
            <a:r>
              <a:rPr lang="en-US" sz="2400" b="1" dirty="0" err="1">
                <a:latin typeface="Candara"/>
              </a:rPr>
              <a:t>Colour</a:t>
            </a:r>
            <a:r>
              <a:rPr lang="en-US" sz="2400" b="1" dirty="0">
                <a:latin typeface="Candara"/>
              </a:rPr>
              <a:t> Scheme: Purple &amp; Beige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F4FB80-420F-EB4A-7897-73CB3692C4A7}"/>
              </a:ext>
            </a:extLst>
          </p:cNvPr>
          <p:cNvSpPr txBox="1"/>
          <p:nvPr/>
        </p:nvSpPr>
        <p:spPr>
          <a:xfrm>
            <a:off x="3317421" y="6161313"/>
            <a:ext cx="5559878" cy="40011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hlinkClick r:id="rId3"/>
              </a:rPr>
              <a:t>ENSE 281 - Group E - High Fidelity Prototype Link</a:t>
            </a:r>
            <a:endParaRPr lang="en-US" sz="2000"/>
          </a:p>
        </p:txBody>
      </p:sp>
      <p:pic>
        <p:nvPicPr>
          <p:cNvPr id="13" name="Picture 12" descr="A screenshot of a phone&#10;&#10;AI-generated content may be incorrect.">
            <a:extLst>
              <a:ext uri="{FF2B5EF4-FFF2-40B4-BE49-F238E27FC236}">
                <a16:creationId xmlns:a16="http://schemas.microsoft.com/office/drawing/2014/main" id="{5559D291-8C16-0738-63FB-CBBE213CD1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639" y="1183142"/>
            <a:ext cx="1713148" cy="3663050"/>
          </a:xfrm>
          <a:prstGeom prst="rect">
            <a:avLst/>
          </a:prstGeom>
        </p:spPr>
      </p:pic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718AED18-1E76-8F26-A87D-A355635065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055" y="1384527"/>
            <a:ext cx="1722665" cy="3652158"/>
          </a:xfrm>
          <a:prstGeom prst="rect">
            <a:avLst/>
          </a:prstGeom>
        </p:spPr>
      </p:pic>
      <p:pic>
        <p:nvPicPr>
          <p:cNvPr id="11" name="Picture 10" descr="A screenshot of a phone&#10;&#10;AI-generated content may be incorrect.">
            <a:extLst>
              <a:ext uri="{FF2B5EF4-FFF2-40B4-BE49-F238E27FC236}">
                <a16:creationId xmlns:a16="http://schemas.microsoft.com/office/drawing/2014/main" id="{ECE1632C-792E-AADD-FE53-AE077547BB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3696" y="1564140"/>
            <a:ext cx="1695450" cy="3663043"/>
          </a:xfrm>
          <a:prstGeom prst="rect">
            <a:avLst/>
          </a:prstGeom>
        </p:spPr>
      </p:pic>
      <p:pic>
        <p:nvPicPr>
          <p:cNvPr id="10" name="Picture 9" descr="A screenshot of a window cleaning service&#10;&#10;AI-generated content may be incorrect.">
            <a:extLst>
              <a:ext uri="{FF2B5EF4-FFF2-40B4-BE49-F238E27FC236}">
                <a16:creationId xmlns:a16="http://schemas.microsoft.com/office/drawing/2014/main" id="{631931DA-94A6-8B9A-F483-E24E6CF199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6452" y="1776414"/>
            <a:ext cx="1722665" cy="3653518"/>
          </a:xfrm>
          <a:prstGeom prst="rect">
            <a:avLst/>
          </a:prstGeom>
        </p:spPr>
      </p:pic>
      <p:pic>
        <p:nvPicPr>
          <p:cNvPr id="14" name="Picture 13" descr="A logo of a house&#10;&#10;AI-generated content may be incorrect.">
            <a:extLst>
              <a:ext uri="{FF2B5EF4-FFF2-40B4-BE49-F238E27FC236}">
                <a16:creationId xmlns:a16="http://schemas.microsoft.com/office/drawing/2014/main" id="{3C2AECAE-FA55-55ED-D97E-BC9EFD74C9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6425" y="1994129"/>
            <a:ext cx="1724025" cy="365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703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089E0A-6284-CB6A-55F5-236450A90D11}"/>
              </a:ext>
            </a:extLst>
          </p:cNvPr>
          <p:cNvSpPr txBox="1"/>
          <p:nvPr/>
        </p:nvSpPr>
        <p:spPr>
          <a:xfrm>
            <a:off x="4071256" y="163874"/>
            <a:ext cx="4049486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bg1"/>
                </a:solidFill>
              </a:rPr>
              <a:t>UML DIAGRAMS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16F9C1-B084-7C32-E656-69C44E5F0CA0}"/>
              </a:ext>
            </a:extLst>
          </p:cNvPr>
          <p:cNvSpPr txBox="1"/>
          <p:nvPr/>
        </p:nvSpPr>
        <p:spPr>
          <a:xfrm>
            <a:off x="331381" y="986734"/>
            <a:ext cx="4863192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2400" b="1" dirty="0">
                <a:solidFill>
                  <a:schemeClr val="bg1"/>
                </a:solidFill>
                <a:latin typeface="Candar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Candara"/>
                <a:ea typeface="+mn-lt"/>
                <a:cs typeface="+mn-lt"/>
              </a:rPr>
              <a:t> Unified Modeling Language (UML) diagram is a standardized visual representation used to model the structure, behavior, and interactions of software systems and business processes.</a:t>
            </a:r>
            <a:r>
              <a:rPr lang="en-US" sz="2400" b="1" dirty="0">
                <a:solidFill>
                  <a:schemeClr val="bg1"/>
                </a:solidFill>
                <a:latin typeface="Candara"/>
              </a:rPr>
              <a:t> </a:t>
            </a: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Wingdings"/>
              <a:buChar char="Ø"/>
            </a:pPr>
            <a:endParaRPr lang="en-US" sz="2400" b="1" dirty="0">
              <a:solidFill>
                <a:schemeClr val="bg1"/>
              </a:solidFill>
              <a:latin typeface="Candara"/>
            </a:endParaRPr>
          </a:p>
          <a:p>
            <a:pPr marL="285750" indent="-285750">
              <a:buFont typeface="Wingdings"/>
              <a:buChar char="Ø"/>
            </a:pPr>
            <a:r>
              <a:rPr lang="en-US" sz="2400" b="1" dirty="0">
                <a:solidFill>
                  <a:schemeClr val="bg1"/>
                </a:solidFill>
                <a:latin typeface="Candara"/>
              </a:rPr>
              <a:t>It</a:t>
            </a:r>
            <a:r>
              <a:rPr lang="en-US" sz="2400" b="1" dirty="0">
                <a:solidFill>
                  <a:schemeClr val="bg1"/>
                </a:solidFill>
                <a:latin typeface="Candara"/>
                <a:ea typeface="+mn-lt"/>
                <a:cs typeface="+mn-lt"/>
              </a:rPr>
              <a:t> acts as a blueprint, allowing developers and stakeholders to plan, document, and communicate complex system architectures through visual, rather than just text-based.</a:t>
            </a:r>
          </a:p>
        </p:txBody>
      </p:sp>
      <p:pic>
        <p:nvPicPr>
          <p:cNvPr id="10" name="Picture 9" descr="A diagram of a program&#10;&#10;AI-generated content may be incorrect.">
            <a:extLst>
              <a:ext uri="{FF2B5EF4-FFF2-40B4-BE49-F238E27FC236}">
                <a16:creationId xmlns:a16="http://schemas.microsoft.com/office/drawing/2014/main" id="{82F1DBD9-5856-A8DC-3C7A-9B5E7D47F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817" y="864973"/>
            <a:ext cx="6003392" cy="581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51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BADEAC-8753-E331-FC98-C1A0E6EB9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D791A8-E3F6-2EC8-D530-B85EDD915026}"/>
              </a:ext>
            </a:extLst>
          </p:cNvPr>
          <p:cNvSpPr txBox="1"/>
          <p:nvPr/>
        </p:nvSpPr>
        <p:spPr>
          <a:xfrm>
            <a:off x="331381" y="986734"/>
            <a:ext cx="4863192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2400" b="1" dirty="0">
                <a:solidFill>
                  <a:schemeClr val="bg1"/>
                </a:solidFill>
                <a:latin typeface="Candar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Candara"/>
                <a:ea typeface="+mn-lt"/>
                <a:cs typeface="+mn-lt"/>
              </a:rPr>
              <a:t> Unified Modeling Language (UML) diagram is a standardized visual representation used to model the structure, behavior, and interactions of software systems and business processes.</a:t>
            </a:r>
            <a:r>
              <a:rPr lang="en-US" sz="2400" b="1" dirty="0">
                <a:solidFill>
                  <a:schemeClr val="bg1"/>
                </a:solidFill>
                <a:latin typeface="Candara"/>
              </a:rPr>
              <a:t> </a:t>
            </a: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Wingdings"/>
              <a:buChar char="Ø"/>
            </a:pPr>
            <a:endParaRPr lang="en-US" sz="2400" b="1" dirty="0">
              <a:solidFill>
                <a:schemeClr val="bg1"/>
              </a:solidFill>
              <a:latin typeface="Candara"/>
            </a:endParaRPr>
          </a:p>
          <a:p>
            <a:pPr marL="285750" indent="-285750">
              <a:buFont typeface="Wingdings"/>
              <a:buChar char="Ø"/>
            </a:pPr>
            <a:r>
              <a:rPr lang="en-US" sz="2400" b="1" dirty="0">
                <a:solidFill>
                  <a:schemeClr val="bg1"/>
                </a:solidFill>
                <a:latin typeface="Candara"/>
              </a:rPr>
              <a:t>It</a:t>
            </a:r>
            <a:r>
              <a:rPr lang="en-US" sz="2400" b="1" dirty="0">
                <a:solidFill>
                  <a:schemeClr val="bg1"/>
                </a:solidFill>
                <a:latin typeface="Candara"/>
                <a:ea typeface="+mn-lt"/>
                <a:cs typeface="+mn-lt"/>
              </a:rPr>
              <a:t> acts as a blueprint, allowing developers and stakeholders to plan, document, and communicate complex system architectures through visual, rather than just text-based.</a:t>
            </a:r>
          </a:p>
        </p:txBody>
      </p:sp>
      <p:pic>
        <p:nvPicPr>
          <p:cNvPr id="2" name="Picture 1" descr="A screenshot of a diagram&#10;&#10;AI-generated content may be incorrect.">
            <a:extLst>
              <a:ext uri="{FF2B5EF4-FFF2-40B4-BE49-F238E27FC236}">
                <a16:creationId xmlns:a16="http://schemas.microsoft.com/office/drawing/2014/main" id="{7543A3EB-2765-CAEC-1F99-35614209C9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467" t="4831" r="16454" b="4831"/>
          <a:stretch>
            <a:fillRect/>
          </a:stretch>
        </p:blipFill>
        <p:spPr>
          <a:xfrm>
            <a:off x="5718638" y="866762"/>
            <a:ext cx="5994475" cy="58143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4ECE39-BC90-5077-8025-7C86C526032D}"/>
              </a:ext>
            </a:extLst>
          </p:cNvPr>
          <p:cNvSpPr txBox="1"/>
          <p:nvPr/>
        </p:nvSpPr>
        <p:spPr>
          <a:xfrm>
            <a:off x="4071256" y="163874"/>
            <a:ext cx="4049486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bg1"/>
                </a:solidFill>
              </a:rPr>
              <a:t>UML DIAGRAMS</a:t>
            </a:r>
          </a:p>
        </p:txBody>
      </p:sp>
    </p:spTree>
    <p:extLst>
      <p:ext uri="{BB962C8B-B14F-4D97-AF65-F5344CB8AC3E}">
        <p14:creationId xmlns:p14="http://schemas.microsoft.com/office/powerpoint/2010/main" val="271173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35CDCE-79F5-32F1-3818-32A38182A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1061C6-8C60-5FF3-7D2F-3B734F97304F}"/>
              </a:ext>
            </a:extLst>
          </p:cNvPr>
          <p:cNvSpPr txBox="1"/>
          <p:nvPr/>
        </p:nvSpPr>
        <p:spPr>
          <a:xfrm>
            <a:off x="4071256" y="185058"/>
            <a:ext cx="4049486" cy="5232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bg1"/>
                </a:solidFill>
              </a:rPr>
              <a:t>SELF REFLECTION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D4C411-304B-A028-7C1B-2680FE3CEE67}"/>
              </a:ext>
            </a:extLst>
          </p:cNvPr>
          <p:cNvSpPr txBox="1"/>
          <p:nvPr/>
        </p:nvSpPr>
        <p:spPr>
          <a:xfrm>
            <a:off x="525536" y="733384"/>
            <a:ext cx="11130966" cy="61247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,Sans-Serif"/>
              <a:buChar char="Ø"/>
            </a:pPr>
            <a:r>
              <a:rPr lang="en-US" sz="2800" b="1" u="sng" dirty="0">
                <a:latin typeface="Candara"/>
              </a:rPr>
              <a:t>Feelings about activity:</a:t>
            </a:r>
            <a:endParaRPr lang="en-US" sz="2800" b="1" dirty="0">
              <a:latin typeface="Candara"/>
            </a:endParaRPr>
          </a:p>
          <a:p>
            <a:pPr marL="742950" lvl="1" indent="-285750">
              <a:buFont typeface="Courier New,monospace"/>
              <a:buChar char="o"/>
            </a:pPr>
            <a:r>
              <a:rPr lang="en-US" sz="2800" b="1" i="1" dirty="0">
                <a:latin typeface="Candara"/>
              </a:rPr>
              <a:t>Interesting stuff , Real life growth , Business opportunity</a:t>
            </a:r>
          </a:p>
          <a:p>
            <a:pPr marL="285750" indent="-285750">
              <a:buFont typeface="Wingdings,Sans-Serif"/>
              <a:buChar char="Ø"/>
            </a:pPr>
            <a:r>
              <a:rPr lang="en-US" sz="2800" b="1" u="sng" dirty="0">
                <a:latin typeface="Candara"/>
              </a:rPr>
              <a:t>Most liked part:</a:t>
            </a:r>
            <a:endParaRPr lang="en-US" sz="2800" b="1" dirty="0">
              <a:latin typeface="Candara"/>
            </a:endParaRPr>
          </a:p>
          <a:p>
            <a:pPr marL="742950" lvl="1" indent="-285750">
              <a:buFont typeface="Courier New,monospace"/>
              <a:buChar char="o"/>
            </a:pPr>
            <a:r>
              <a:rPr lang="en-US" sz="2800" b="1" i="1" dirty="0">
                <a:latin typeface="Candara"/>
              </a:rPr>
              <a:t>Designing</a:t>
            </a:r>
          </a:p>
          <a:p>
            <a:pPr marL="285750" indent="-285750">
              <a:buFont typeface="Wingdings,Sans-Serif"/>
              <a:buChar char="Ø"/>
            </a:pPr>
            <a:r>
              <a:rPr lang="en-US" sz="2800" b="1" u="sng" dirty="0">
                <a:latin typeface="Candara"/>
              </a:rPr>
              <a:t>Least liked part:</a:t>
            </a:r>
            <a:endParaRPr lang="en-US" sz="2800" b="1" dirty="0">
              <a:latin typeface="Candara"/>
            </a:endParaRPr>
          </a:p>
          <a:p>
            <a:pPr marL="742950" lvl="1" indent="-285750">
              <a:buFont typeface="Courier New,monospace"/>
              <a:buChar char="o"/>
            </a:pPr>
            <a:r>
              <a:rPr lang="en-US" sz="2800" b="1" i="1" dirty="0">
                <a:latin typeface="Candara"/>
              </a:rPr>
              <a:t>Tons of documentation , Time conflicts with team members</a:t>
            </a:r>
          </a:p>
          <a:p>
            <a:pPr marL="285750" indent="-285750">
              <a:buFont typeface="Wingdings,Sans-Serif"/>
              <a:buChar char="Ø"/>
            </a:pPr>
            <a:r>
              <a:rPr lang="en-US" sz="2800" b="1" u="sng" dirty="0">
                <a:latin typeface="Candara"/>
              </a:rPr>
              <a:t>Proud about project:</a:t>
            </a:r>
            <a:endParaRPr lang="en-US" sz="2800" b="1" dirty="0">
              <a:latin typeface="Candara"/>
            </a:endParaRPr>
          </a:p>
          <a:p>
            <a:pPr marL="742950" lvl="1" indent="-285750">
              <a:buFont typeface="Courier New,monospace"/>
              <a:buChar char="o"/>
            </a:pPr>
            <a:r>
              <a:rPr lang="en-US" sz="2800" b="1" i="1" dirty="0">
                <a:latin typeface="Candara"/>
              </a:rPr>
              <a:t>Learning to be on the same page , Countless efforts</a:t>
            </a:r>
          </a:p>
          <a:p>
            <a:pPr marL="285750" indent="-285750">
              <a:buFont typeface="Wingdings,Sans-Serif"/>
              <a:buChar char="Ø"/>
            </a:pPr>
            <a:r>
              <a:rPr lang="en-US" sz="2800" b="1" u="sng" dirty="0">
                <a:latin typeface="Candara"/>
              </a:rPr>
              <a:t>Lessons learned: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2800" b="1" i="1" dirty="0">
                <a:latin typeface="Candara"/>
              </a:rPr>
              <a:t>Documents create a common ground , Accountability for members</a:t>
            </a:r>
            <a:endParaRPr lang="en-US" sz="2800" i="1"/>
          </a:p>
          <a:p>
            <a:pPr marL="285750" indent="-285750">
              <a:buFont typeface="Wingdings,Sans-Serif"/>
              <a:buChar char="Ø"/>
            </a:pPr>
            <a:r>
              <a:rPr lang="en-US" sz="2800" b="1" u="sng" dirty="0">
                <a:latin typeface="Candara"/>
              </a:rPr>
              <a:t>Experience going forward:</a:t>
            </a:r>
            <a:endParaRPr lang="en-US" sz="2800" b="1" dirty="0">
              <a:latin typeface="Candara"/>
            </a:endParaRPr>
          </a:p>
          <a:p>
            <a:pPr marL="742950" lvl="1" indent="-285750">
              <a:buFont typeface="Courier New,monospace"/>
              <a:buChar char="o"/>
            </a:pPr>
            <a:r>
              <a:rPr lang="en-US" sz="2800" b="1" i="1" dirty="0">
                <a:latin typeface="Candara"/>
              </a:rPr>
              <a:t>Do not take time for granted , Stay connected</a:t>
            </a:r>
          </a:p>
          <a:p>
            <a:pPr marL="285750" indent="-285750">
              <a:buFont typeface="Wingdings,Sans-Serif"/>
              <a:buChar char="Ø"/>
            </a:pPr>
            <a:r>
              <a:rPr lang="en-US" sz="2800" b="1" u="sng" dirty="0">
                <a:latin typeface="Candara"/>
              </a:rPr>
              <a:t>Help needed further:</a:t>
            </a:r>
            <a:endParaRPr lang="en-US" sz="2800" b="1" dirty="0">
              <a:latin typeface="Candara"/>
            </a:endParaRPr>
          </a:p>
          <a:p>
            <a:pPr marL="742950" lvl="1" indent="-285750">
              <a:buFont typeface="Courier New,monospace"/>
              <a:buChar char="o"/>
            </a:pPr>
            <a:r>
              <a:rPr lang="en-US" sz="2800" b="1" i="1" dirty="0">
                <a:latin typeface="Candara"/>
              </a:rPr>
              <a:t>Improve development skills , Manage time and material efficiently</a:t>
            </a:r>
          </a:p>
        </p:txBody>
      </p:sp>
    </p:spTree>
    <p:extLst>
      <p:ext uri="{BB962C8B-B14F-4D97-AF65-F5344CB8AC3E}">
        <p14:creationId xmlns:p14="http://schemas.microsoft.com/office/powerpoint/2010/main" val="3401826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247ADF-31B9-DC36-444D-B68B27248D67}"/>
              </a:ext>
            </a:extLst>
          </p:cNvPr>
          <p:cNvSpPr txBox="1"/>
          <p:nvPr/>
        </p:nvSpPr>
        <p:spPr>
          <a:xfrm>
            <a:off x="1883228" y="1445079"/>
            <a:ext cx="8436428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latin typeface="Batang"/>
                <a:ea typeface="Batang"/>
              </a:rPr>
              <a:t>Any Questions?</a:t>
            </a:r>
          </a:p>
          <a:p>
            <a:pPr algn="ctr"/>
            <a:endParaRPr lang="en-US" sz="3600" b="1" dirty="0">
              <a:latin typeface="Batang"/>
              <a:ea typeface="Batang"/>
            </a:endParaRPr>
          </a:p>
          <a:p>
            <a:pPr algn="ctr"/>
            <a:r>
              <a:rPr lang="en-US" sz="3600" b="1" dirty="0">
                <a:latin typeface="Batang"/>
                <a:ea typeface="Batang"/>
              </a:rPr>
              <a:t>Any Suggestions?</a:t>
            </a:r>
          </a:p>
          <a:p>
            <a:pPr algn="ctr"/>
            <a:endParaRPr lang="en-US" sz="3600" b="1" dirty="0">
              <a:latin typeface="Batang"/>
              <a:ea typeface="Batang"/>
            </a:endParaRPr>
          </a:p>
          <a:p>
            <a:pPr algn="ctr"/>
            <a:r>
              <a:rPr lang="en-US" sz="3600" b="1" dirty="0">
                <a:latin typeface="Batang"/>
                <a:ea typeface="Batang"/>
              </a:rPr>
              <a:t>Any Specifications?</a:t>
            </a:r>
          </a:p>
          <a:p>
            <a:pPr algn="ctr"/>
            <a:endParaRPr lang="en-US" sz="3600" b="1" dirty="0">
              <a:latin typeface="Batang"/>
              <a:ea typeface="Batang"/>
            </a:endParaRPr>
          </a:p>
          <a:p>
            <a:pPr algn="ctr"/>
            <a:r>
              <a:rPr lang="en-US" sz="3600" b="1" dirty="0">
                <a:latin typeface="Batang"/>
                <a:ea typeface="Batang"/>
              </a:rPr>
              <a:t>Any Recommendations?</a:t>
            </a:r>
          </a:p>
        </p:txBody>
      </p:sp>
    </p:spTree>
    <p:extLst>
      <p:ext uri="{BB962C8B-B14F-4D97-AF65-F5344CB8AC3E}">
        <p14:creationId xmlns:p14="http://schemas.microsoft.com/office/powerpoint/2010/main" val="1760666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6928D1-16D7-C064-93AB-1E80DB8C4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217" y="560250"/>
            <a:ext cx="4450523" cy="342941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3" name="Picture 2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7165A81C-A77C-A7B8-F7E5-14CEC427D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978" y="563011"/>
            <a:ext cx="4444999" cy="34290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Picture 3" descr="A black and white checkered pattern&#10;&#10;AI-generated content may be incorrect.">
            <a:extLst>
              <a:ext uri="{FF2B5EF4-FFF2-40B4-BE49-F238E27FC236}">
                <a16:creationId xmlns:a16="http://schemas.microsoft.com/office/drawing/2014/main" id="{A516D5F5-2F79-6B31-EBBE-9BD9E43E21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909" t="46774" r="11182" b="5161"/>
          <a:stretch>
            <a:fillRect/>
          </a:stretch>
        </p:blipFill>
        <p:spPr>
          <a:xfrm>
            <a:off x="-1" y="4872935"/>
            <a:ext cx="12203059" cy="164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659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1038</cp:revision>
  <dcterms:created xsi:type="dcterms:W3CDTF">2025-09-30T23:13:53Z</dcterms:created>
  <dcterms:modified xsi:type="dcterms:W3CDTF">2026-03-04T18:57:54Z</dcterms:modified>
</cp:coreProperties>
</file>