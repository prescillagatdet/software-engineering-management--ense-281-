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1" r:id="rId5"/>
    <p:sldId id="268" r:id="rId6"/>
    <p:sldId id="265" r:id="rId7"/>
    <p:sldId id="269"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2C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72EBC1-CD80-4006-B183-56793080A9A5}" v="6330" dt="2026-01-28T16:30:52.7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ight bulb with gears&#10;&#10;AI-generated content may be incorrect.">
            <a:extLst>
              <a:ext uri="{FF2B5EF4-FFF2-40B4-BE49-F238E27FC236}">
                <a16:creationId xmlns:a16="http://schemas.microsoft.com/office/drawing/2014/main" id="{EE71D35E-5CF5-B348-64EC-E073FA0FE33F}"/>
              </a:ext>
            </a:extLst>
          </p:cNvPr>
          <p:cNvPicPr>
            <a:picLocks noChangeAspect="1"/>
          </p:cNvPicPr>
          <p:nvPr/>
        </p:nvPicPr>
        <p:blipFill>
          <a:blip r:embed="rId2"/>
          <a:stretch>
            <a:fillRect/>
          </a:stretch>
        </p:blipFill>
        <p:spPr>
          <a:xfrm>
            <a:off x="9853622" y="4740492"/>
            <a:ext cx="1961322" cy="1972366"/>
          </a:xfrm>
          <a:prstGeom prst="rect">
            <a:avLst/>
          </a:prstGeom>
        </p:spPr>
      </p:pic>
      <p:pic>
        <p:nvPicPr>
          <p:cNvPr id="3" name="Picture 2" descr="A drawing of a project&#10;&#10;AI-generated content may be incorrect.">
            <a:extLst>
              <a:ext uri="{FF2B5EF4-FFF2-40B4-BE49-F238E27FC236}">
                <a16:creationId xmlns:a16="http://schemas.microsoft.com/office/drawing/2014/main" id="{98F92CE5-AB88-E7EF-B740-0336B412EFF9}"/>
              </a:ext>
            </a:extLst>
          </p:cNvPr>
          <p:cNvPicPr>
            <a:picLocks noChangeAspect="1"/>
          </p:cNvPicPr>
          <p:nvPr/>
        </p:nvPicPr>
        <p:blipFill>
          <a:blip r:embed="rId3"/>
          <a:stretch>
            <a:fillRect/>
          </a:stretch>
        </p:blipFill>
        <p:spPr>
          <a:xfrm>
            <a:off x="247659" y="296251"/>
            <a:ext cx="1789734" cy="1789734"/>
          </a:xfrm>
          <a:prstGeom prst="rect">
            <a:avLst/>
          </a:prstGeom>
        </p:spPr>
      </p:pic>
      <p:pic>
        <p:nvPicPr>
          <p:cNvPr id="6" name="Picture 5" descr="A close up of a sign&#10;&#10;AI-generated content may be incorrect.">
            <a:extLst>
              <a:ext uri="{FF2B5EF4-FFF2-40B4-BE49-F238E27FC236}">
                <a16:creationId xmlns:a16="http://schemas.microsoft.com/office/drawing/2014/main" id="{DA887DFA-4666-8FED-0ACD-13A01615DBBD}"/>
              </a:ext>
            </a:extLst>
          </p:cNvPr>
          <p:cNvPicPr>
            <a:picLocks noChangeAspect="1"/>
          </p:cNvPicPr>
          <p:nvPr/>
        </p:nvPicPr>
        <p:blipFill>
          <a:blip r:embed="rId4"/>
          <a:stretch>
            <a:fillRect/>
          </a:stretch>
        </p:blipFill>
        <p:spPr>
          <a:xfrm>
            <a:off x="3413499" y="1839303"/>
            <a:ext cx="5364843" cy="319044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99691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putting their hands together&#10;&#10;AI-generated content may be incorrect.">
            <a:extLst>
              <a:ext uri="{FF2B5EF4-FFF2-40B4-BE49-F238E27FC236}">
                <a16:creationId xmlns:a16="http://schemas.microsoft.com/office/drawing/2014/main" id="{ABB26BED-9BB5-90EF-EFDE-BBB44B2FC542}"/>
              </a:ext>
            </a:extLst>
          </p:cNvPr>
          <p:cNvPicPr>
            <a:picLocks noChangeAspect="1"/>
          </p:cNvPicPr>
          <p:nvPr/>
        </p:nvPicPr>
        <p:blipFill>
          <a:blip r:embed="rId2"/>
          <a:stretch>
            <a:fillRect/>
          </a:stretch>
        </p:blipFill>
        <p:spPr>
          <a:xfrm>
            <a:off x="-5443" y="680"/>
            <a:ext cx="12202885" cy="6856640"/>
          </a:xfrm>
          <a:prstGeom prst="rect">
            <a:avLst/>
          </a:prstGeom>
        </p:spPr>
      </p:pic>
      <p:sp>
        <p:nvSpPr>
          <p:cNvPr id="3" name="TextBox 2">
            <a:extLst>
              <a:ext uri="{FF2B5EF4-FFF2-40B4-BE49-F238E27FC236}">
                <a16:creationId xmlns:a16="http://schemas.microsoft.com/office/drawing/2014/main" id="{066A1D22-4B3C-5710-2D08-76FEA745AA9C}"/>
              </a:ext>
            </a:extLst>
          </p:cNvPr>
          <p:cNvSpPr txBox="1"/>
          <p:nvPr/>
        </p:nvSpPr>
        <p:spPr>
          <a:xfrm>
            <a:off x="7267791" y="975454"/>
            <a:ext cx="4920344"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1" dirty="0">
                <a:latin typeface="Book Antiqua"/>
              </a:rPr>
              <a:t>ENSE 281 GROUP PROJECT</a:t>
            </a:r>
          </a:p>
          <a:p>
            <a:pPr algn="ctr"/>
            <a:r>
              <a:rPr lang="en-US" sz="2800" b="1" i="1" dirty="0">
                <a:latin typeface="Book Antiqua"/>
                <a:ea typeface="+mn-lt"/>
                <a:cs typeface="+mn-lt"/>
              </a:rPr>
              <a:t>Project</a:t>
            </a:r>
            <a:r>
              <a:rPr lang="en-US" sz="2800" b="1" i="1" dirty="0">
                <a:latin typeface="Book Antiqua"/>
              </a:rPr>
              <a:t> Description: Design &amp; Develop A Small To Medium Scaled, Web-Based Software Application</a:t>
            </a:r>
            <a:endParaRPr lang="en-US"/>
          </a:p>
          <a:p>
            <a:pPr algn="ctr"/>
            <a:endParaRPr lang="en-US" sz="2800" b="1" dirty="0">
              <a:latin typeface="Book Antiqua"/>
            </a:endParaRPr>
          </a:p>
          <a:p>
            <a:pPr algn="ctr"/>
            <a:r>
              <a:rPr lang="en-US" sz="2800" b="1" i="1" u="sng" dirty="0">
                <a:latin typeface="Book Antiqua"/>
              </a:rPr>
              <a:t>WINTER 2026 - GROUP E</a:t>
            </a:r>
            <a:endParaRPr lang="en-US" b="1"/>
          </a:p>
          <a:p>
            <a:pPr algn="ctr"/>
            <a:endParaRPr lang="en-US" sz="2800" i="1" dirty="0">
              <a:latin typeface="Book Antiqua"/>
            </a:endParaRPr>
          </a:p>
          <a:p>
            <a:pPr marL="285750" indent="-285750" algn="ctr">
              <a:buFont typeface="Calibri"/>
              <a:buChar char="-"/>
            </a:pPr>
            <a:r>
              <a:rPr lang="en-US" sz="2800" i="1" dirty="0">
                <a:latin typeface="Book Antiqua"/>
              </a:rPr>
              <a:t>Ali Abdullah</a:t>
            </a:r>
          </a:p>
          <a:p>
            <a:pPr marL="285750" indent="-285750" algn="ctr">
              <a:buFont typeface="Calibri"/>
              <a:buChar char="-"/>
            </a:pPr>
            <a:r>
              <a:rPr lang="en-US" sz="2800" i="1" err="1">
                <a:latin typeface="Book Antiqua"/>
                <a:ea typeface="+mn-lt"/>
                <a:cs typeface="+mn-lt"/>
              </a:rPr>
              <a:t>Nyabijek</a:t>
            </a:r>
            <a:r>
              <a:rPr lang="en-US" sz="2800" i="1" dirty="0">
                <a:latin typeface="Book Antiqua"/>
                <a:ea typeface="+mn-lt"/>
                <a:cs typeface="+mn-lt"/>
              </a:rPr>
              <a:t> Gatdet</a:t>
            </a:r>
          </a:p>
          <a:p>
            <a:pPr marL="285750" indent="-285750" algn="ctr">
              <a:buFont typeface="Calibri"/>
              <a:buChar char="-"/>
            </a:pPr>
            <a:r>
              <a:rPr lang="en-US" sz="2800" i="1" err="1">
                <a:latin typeface="Book Antiqua"/>
              </a:rPr>
              <a:t>Chiemego</a:t>
            </a:r>
            <a:r>
              <a:rPr lang="en-US" sz="2800" i="1" dirty="0">
                <a:latin typeface="Book Antiqua"/>
              </a:rPr>
              <a:t> Emmanuel</a:t>
            </a:r>
          </a:p>
          <a:p>
            <a:pPr marL="285750" indent="-285750" algn="ctr">
              <a:buFont typeface="Calibri"/>
              <a:buChar char="-"/>
            </a:pPr>
            <a:r>
              <a:rPr lang="en-US" sz="2800" i="1" dirty="0">
                <a:latin typeface="Book Antiqua"/>
              </a:rPr>
              <a:t>Chinedu Godswill</a:t>
            </a:r>
          </a:p>
        </p:txBody>
      </p:sp>
    </p:spTree>
    <p:extLst>
      <p:ext uri="{BB962C8B-B14F-4D97-AF65-F5344CB8AC3E}">
        <p14:creationId xmlns:p14="http://schemas.microsoft.com/office/powerpoint/2010/main" val="360549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t="-7000" b="-7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9B7DCC-337D-835A-7C5C-9F5C68125A82}"/>
              </a:ext>
            </a:extLst>
          </p:cNvPr>
          <p:cNvSpPr txBox="1"/>
          <p:nvPr/>
        </p:nvSpPr>
        <p:spPr>
          <a:xfrm>
            <a:off x="3469821" y="204106"/>
            <a:ext cx="5255080" cy="5232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1" u="sng" dirty="0"/>
              <a:t>PROJECT IDEA / BACKGROUND</a:t>
            </a:r>
          </a:p>
        </p:txBody>
      </p:sp>
      <p:sp>
        <p:nvSpPr>
          <p:cNvPr id="2" name="TextBox 1">
            <a:extLst>
              <a:ext uri="{FF2B5EF4-FFF2-40B4-BE49-F238E27FC236}">
                <a16:creationId xmlns:a16="http://schemas.microsoft.com/office/drawing/2014/main" id="{C4F4AA33-D986-D4E6-FE33-0DF87E6FCC72}"/>
              </a:ext>
            </a:extLst>
          </p:cNvPr>
          <p:cNvSpPr txBox="1"/>
          <p:nvPr/>
        </p:nvSpPr>
        <p:spPr>
          <a:xfrm>
            <a:off x="255182" y="845220"/>
            <a:ext cx="1168853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400" b="1" dirty="0">
                <a:solidFill>
                  <a:schemeClr val="bg1"/>
                </a:solidFill>
                <a:latin typeface="Candara"/>
              </a:rPr>
              <a:t>People try to find different services during different seasons, for some occasions, or throughout the year as well.</a:t>
            </a:r>
          </a:p>
          <a:p>
            <a:pPr marL="285750" indent="-285750">
              <a:buFont typeface="Wingdings"/>
              <a:buChar char="Ø"/>
            </a:pPr>
            <a:endParaRPr lang="en-US" sz="2400" b="1" dirty="0">
              <a:solidFill>
                <a:schemeClr val="bg1"/>
              </a:solidFill>
              <a:latin typeface="Candara"/>
            </a:endParaRPr>
          </a:p>
          <a:p>
            <a:pPr marL="285750" indent="-285750">
              <a:buFont typeface="Wingdings"/>
              <a:buChar char="Ø"/>
            </a:pPr>
            <a:r>
              <a:rPr lang="en-US" sz="2400" b="1" dirty="0">
                <a:solidFill>
                  <a:schemeClr val="bg1"/>
                </a:solidFill>
                <a:latin typeface="Candara"/>
              </a:rPr>
              <a:t>Services include snow removal, leaves raking, fence painting, and many more, but they are not always budget friendly or reachable quickly.</a:t>
            </a:r>
          </a:p>
          <a:p>
            <a:pPr marL="285750" indent="-285750">
              <a:buFont typeface="Wingdings"/>
              <a:buChar char="Ø"/>
            </a:pPr>
            <a:endParaRPr lang="en-US" sz="2400" b="1" dirty="0">
              <a:solidFill>
                <a:schemeClr val="bg1"/>
              </a:solidFill>
              <a:latin typeface="Candara"/>
            </a:endParaRPr>
          </a:p>
          <a:p>
            <a:pPr marL="285750" indent="-285750">
              <a:buFont typeface="Wingdings"/>
              <a:buChar char="Ø"/>
            </a:pPr>
            <a:r>
              <a:rPr lang="en-US" sz="2400" b="1" dirty="0">
                <a:solidFill>
                  <a:schemeClr val="bg1"/>
                </a:solidFill>
                <a:latin typeface="Candara"/>
              </a:rPr>
              <a:t>Different ideas to enter this market with a number of different questions making their way into the golden circle, like:</a:t>
            </a:r>
          </a:p>
          <a:p>
            <a:pPr marL="742950" lvl="1" indent="-285750">
              <a:buFont typeface="Courier New"/>
              <a:buChar char="o"/>
            </a:pPr>
            <a:r>
              <a:rPr lang="en-US" sz="2400" b="1" dirty="0">
                <a:solidFill>
                  <a:schemeClr val="bg1"/>
                </a:solidFill>
                <a:latin typeface="Candara"/>
              </a:rPr>
              <a:t>Why do we need to step into this market, but in a different way to change the game around and make an impact as well?</a:t>
            </a:r>
          </a:p>
          <a:p>
            <a:pPr marL="742950" lvl="1" indent="-285750">
              <a:buFont typeface="Courier New"/>
              <a:buChar char="o"/>
            </a:pPr>
            <a:r>
              <a:rPr lang="en-US" sz="2400" b="1" dirty="0">
                <a:solidFill>
                  <a:schemeClr val="bg1"/>
                </a:solidFill>
                <a:latin typeface="Candara"/>
              </a:rPr>
              <a:t>Who are the people that need certain services and the ones that could provide those services, and how can they meet?</a:t>
            </a:r>
          </a:p>
          <a:p>
            <a:pPr marL="742950" lvl="1" indent="-285750">
              <a:buFont typeface="Courier New"/>
              <a:buChar char="o"/>
            </a:pPr>
            <a:r>
              <a:rPr lang="en-US" sz="2400" b="1" dirty="0">
                <a:solidFill>
                  <a:schemeClr val="bg1"/>
                </a:solidFill>
                <a:latin typeface="Candara"/>
              </a:rPr>
              <a:t>What constraints we currently face, and what can we do to make sure that these services stay budget friendly, and reachable?</a:t>
            </a:r>
          </a:p>
        </p:txBody>
      </p:sp>
      <p:sp>
        <p:nvSpPr>
          <p:cNvPr id="4" name="TextBox 3">
            <a:extLst>
              <a:ext uri="{FF2B5EF4-FFF2-40B4-BE49-F238E27FC236}">
                <a16:creationId xmlns:a16="http://schemas.microsoft.com/office/drawing/2014/main" id="{448F0C7C-CA11-9B90-1BB7-BDD8A31C0E90}"/>
              </a:ext>
            </a:extLst>
          </p:cNvPr>
          <p:cNvSpPr txBox="1"/>
          <p:nvPr/>
        </p:nvSpPr>
        <p:spPr>
          <a:xfrm>
            <a:off x="1624969" y="6216689"/>
            <a:ext cx="8944820" cy="5232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1" dirty="0">
                <a:latin typeface="Candara"/>
              </a:rPr>
              <a:t>"Instead of you approaching them, let them approach you"</a:t>
            </a:r>
          </a:p>
        </p:txBody>
      </p:sp>
    </p:spTree>
    <p:extLst>
      <p:ext uri="{BB962C8B-B14F-4D97-AF65-F5344CB8AC3E}">
        <p14:creationId xmlns:p14="http://schemas.microsoft.com/office/powerpoint/2010/main" val="2009611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61691C-9DE9-D1B3-A334-BEA985E5E666}"/>
              </a:ext>
            </a:extLst>
          </p:cNvPr>
          <p:cNvSpPr txBox="1"/>
          <p:nvPr/>
        </p:nvSpPr>
        <p:spPr>
          <a:xfrm>
            <a:off x="4071256" y="195943"/>
            <a:ext cx="4049486" cy="5232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1" u="sng" dirty="0"/>
              <a:t>WHY???</a:t>
            </a:r>
            <a:endParaRPr lang="en-US" sz="2800" dirty="0"/>
          </a:p>
        </p:txBody>
      </p:sp>
      <p:graphicFrame>
        <p:nvGraphicFramePr>
          <p:cNvPr id="3" name="Table 2">
            <a:extLst>
              <a:ext uri="{FF2B5EF4-FFF2-40B4-BE49-F238E27FC236}">
                <a16:creationId xmlns:a16="http://schemas.microsoft.com/office/drawing/2014/main" id="{A1CA63B9-5EEB-53D6-FE29-411D45B0125F}"/>
              </a:ext>
            </a:extLst>
          </p:cNvPr>
          <p:cNvGraphicFramePr>
            <a:graphicFrameLocks noGrp="1"/>
          </p:cNvGraphicFramePr>
          <p:nvPr>
            <p:extLst>
              <p:ext uri="{D42A27DB-BD31-4B8C-83A1-F6EECF244321}">
                <p14:modId xmlns:p14="http://schemas.microsoft.com/office/powerpoint/2010/main" val="25852218"/>
              </p:ext>
            </p:extLst>
          </p:nvPr>
        </p:nvGraphicFramePr>
        <p:xfrm>
          <a:off x="836023" y="1114262"/>
          <a:ext cx="10522620" cy="5510892"/>
        </p:xfrm>
        <a:graphic>
          <a:graphicData uri="http://schemas.openxmlformats.org/drawingml/2006/table">
            <a:tbl>
              <a:tblPr firstRow="1" bandRow="1">
                <a:tableStyleId>{5C22544A-7EE6-4342-B048-85BDC9FD1C3A}</a:tableStyleId>
              </a:tblPr>
              <a:tblGrid>
                <a:gridCol w="5261310">
                  <a:extLst>
                    <a:ext uri="{9D8B030D-6E8A-4147-A177-3AD203B41FA5}">
                      <a16:colId xmlns:a16="http://schemas.microsoft.com/office/drawing/2014/main" val="1867605445"/>
                    </a:ext>
                  </a:extLst>
                </a:gridCol>
                <a:gridCol w="5261310">
                  <a:extLst>
                    <a:ext uri="{9D8B030D-6E8A-4147-A177-3AD203B41FA5}">
                      <a16:colId xmlns:a16="http://schemas.microsoft.com/office/drawing/2014/main" val="3192042670"/>
                    </a:ext>
                  </a:extLst>
                </a:gridCol>
              </a:tblGrid>
              <a:tr h="571500">
                <a:tc>
                  <a:txBody>
                    <a:bodyPr/>
                    <a:lstStyle/>
                    <a:p>
                      <a:pPr algn="ctr"/>
                      <a:r>
                        <a:rPr lang="en-US" sz="2400" b="1" i="0" u="sng" dirty="0">
                          <a:latin typeface="Comic Sans MS"/>
                        </a:rPr>
                        <a:t>REASONS</a:t>
                      </a:r>
                    </a:p>
                  </a:txBody>
                  <a:tcPr/>
                </a:tc>
                <a:tc>
                  <a:txBody>
                    <a:bodyPr/>
                    <a:lstStyle/>
                    <a:p>
                      <a:pPr algn="ctr"/>
                      <a:r>
                        <a:rPr lang="en-US" sz="2400" b="1" u="sng" dirty="0">
                          <a:latin typeface="Comic Sans MS"/>
                        </a:rPr>
                        <a:t>IMPACTS</a:t>
                      </a:r>
                    </a:p>
                  </a:txBody>
                  <a:tcPr/>
                </a:tc>
                <a:extLst>
                  <a:ext uri="{0D108BD9-81ED-4DB2-BD59-A6C34878D82A}">
                    <a16:rowId xmlns:a16="http://schemas.microsoft.com/office/drawing/2014/main" val="2414102226"/>
                  </a:ext>
                </a:extLst>
              </a:tr>
              <a:tr h="4939392">
                <a:tc>
                  <a:txBody>
                    <a:bodyPr/>
                    <a:lstStyle/>
                    <a:p>
                      <a:pPr marL="342900" indent="-342900">
                        <a:buFont typeface="Wingdings"/>
                        <a:buChar char="Ø"/>
                      </a:pPr>
                      <a:r>
                        <a:rPr lang="en-US" sz="2400" dirty="0">
                          <a:latin typeface="Candara"/>
                        </a:rPr>
                        <a:t>Bridging gap between people who need services and people who have skills to provide those services.</a:t>
                      </a:r>
                    </a:p>
                    <a:p>
                      <a:pPr marL="342900" lvl="0" indent="-342900">
                        <a:buFont typeface="Wingdings"/>
                        <a:buChar char="Ø"/>
                      </a:pPr>
                      <a:endParaRPr lang="en-US" sz="2400" dirty="0">
                        <a:latin typeface="Candara"/>
                      </a:endParaRPr>
                    </a:p>
                    <a:p>
                      <a:pPr marL="342900" lvl="0" indent="-342900">
                        <a:buFont typeface="Wingdings"/>
                        <a:buChar char="Ø"/>
                      </a:pPr>
                      <a:r>
                        <a:rPr lang="en-US" sz="2400" dirty="0">
                          <a:latin typeface="Candara"/>
                        </a:rPr>
                        <a:t>Not sufficient wages for workers and / or late payments.</a:t>
                      </a:r>
                    </a:p>
                    <a:p>
                      <a:pPr marL="342900" lvl="0" indent="-342900">
                        <a:buFont typeface="Wingdings"/>
                        <a:buChar char="Ø"/>
                      </a:pPr>
                      <a:endParaRPr lang="en-US" sz="2400" dirty="0">
                        <a:latin typeface="Candara"/>
                      </a:endParaRPr>
                    </a:p>
                    <a:p>
                      <a:pPr marL="342900" lvl="0" indent="-342900">
                        <a:buFont typeface="Wingdings"/>
                        <a:buChar char="Ø"/>
                      </a:pPr>
                      <a:r>
                        <a:rPr lang="en-US" sz="2400" dirty="0">
                          <a:latin typeface="Candara"/>
                        </a:rPr>
                        <a:t>Hectic to count and keep currently created resumes.</a:t>
                      </a:r>
                    </a:p>
                    <a:p>
                      <a:pPr marL="342900" lvl="0" indent="-342900">
                        <a:buFont typeface="Wingdings"/>
                        <a:buChar char="Ø"/>
                      </a:pPr>
                      <a:endParaRPr lang="en-US" sz="2400" dirty="0">
                        <a:latin typeface="Candara"/>
                      </a:endParaRPr>
                    </a:p>
                    <a:p>
                      <a:pPr marL="342900" lvl="0" indent="-342900">
                        <a:buFont typeface="Wingdings"/>
                        <a:buChar char="Ø"/>
                      </a:pPr>
                      <a:r>
                        <a:rPr lang="en-US" sz="2400" dirty="0">
                          <a:latin typeface="Candara"/>
                        </a:rPr>
                        <a:t>Instead of having multiple resumes for multiple services, let the jobs come to you as common.</a:t>
                      </a:r>
                    </a:p>
                  </a:txBody>
                  <a:tcPr/>
                </a:tc>
                <a:tc>
                  <a:txBody>
                    <a:bodyPr/>
                    <a:lstStyle/>
                    <a:p>
                      <a:pPr marL="342900" indent="-342900">
                        <a:buFont typeface="Wingdings"/>
                        <a:buChar char="Ø"/>
                      </a:pPr>
                      <a:r>
                        <a:rPr lang="en-US" sz="2400" dirty="0">
                          <a:latin typeface="Candara"/>
                        </a:rPr>
                        <a:t>Reduced / Closed gap between workers and who require and hire them for short term gigs.</a:t>
                      </a:r>
                    </a:p>
                    <a:p>
                      <a:pPr marL="342900" lvl="0" indent="-342900">
                        <a:buFont typeface="Wingdings"/>
                        <a:buChar char="Ø"/>
                      </a:pPr>
                      <a:endParaRPr lang="en-US" sz="2400" dirty="0">
                        <a:latin typeface="Candara"/>
                      </a:endParaRPr>
                    </a:p>
                    <a:p>
                      <a:pPr marL="342900" lvl="0" indent="-342900">
                        <a:buFont typeface="Wingdings"/>
                        <a:buChar char="Ø"/>
                      </a:pPr>
                      <a:r>
                        <a:rPr lang="en-US" sz="2400" dirty="0">
                          <a:latin typeface="Candara"/>
                        </a:rPr>
                        <a:t>Earning more than just a small percentage amount of what bigger companies charge.</a:t>
                      </a:r>
                    </a:p>
                    <a:p>
                      <a:pPr marL="342900" lvl="0" indent="-342900">
                        <a:buFont typeface="Wingdings"/>
                        <a:buChar char="Ø"/>
                      </a:pPr>
                      <a:endParaRPr lang="en-US" sz="2400" dirty="0">
                        <a:latin typeface="Candara"/>
                      </a:endParaRPr>
                    </a:p>
                    <a:p>
                      <a:pPr marL="342900" lvl="0" indent="-342900">
                        <a:buFont typeface="Wingdings"/>
                        <a:buChar char="Ø"/>
                      </a:pPr>
                      <a:r>
                        <a:rPr lang="en-US" sz="2400" dirty="0">
                          <a:latin typeface="Candara"/>
                        </a:rPr>
                        <a:t>Skilled workers having a chance to negotiate the price for their skills.</a:t>
                      </a:r>
                    </a:p>
                    <a:p>
                      <a:pPr marL="342900" lvl="0" indent="-342900">
                        <a:buFont typeface="Wingdings"/>
                        <a:buChar char="Ø"/>
                      </a:pPr>
                      <a:endParaRPr lang="en-US" sz="2400" dirty="0">
                        <a:latin typeface="Candara"/>
                      </a:endParaRPr>
                    </a:p>
                    <a:p>
                      <a:pPr marL="342900" lvl="0" indent="-342900">
                        <a:buFont typeface="Wingdings"/>
                        <a:buChar char="Ø"/>
                      </a:pPr>
                      <a:r>
                        <a:rPr lang="en-US" sz="2400" dirty="0">
                          <a:latin typeface="Candara"/>
                        </a:rPr>
                        <a:t>Independence, favorable prices, more opportunities, less demands.</a:t>
                      </a:r>
                    </a:p>
                  </a:txBody>
                  <a:tcPr/>
                </a:tc>
                <a:extLst>
                  <a:ext uri="{0D108BD9-81ED-4DB2-BD59-A6C34878D82A}">
                    <a16:rowId xmlns:a16="http://schemas.microsoft.com/office/drawing/2014/main" val="2209102605"/>
                  </a:ext>
                </a:extLst>
              </a:tr>
            </a:tbl>
          </a:graphicData>
        </a:graphic>
      </p:graphicFrame>
    </p:spTree>
    <p:extLst>
      <p:ext uri="{BB962C8B-B14F-4D97-AF65-F5344CB8AC3E}">
        <p14:creationId xmlns:p14="http://schemas.microsoft.com/office/powerpoint/2010/main" val="2508703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t="-13000" b="-13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089E0A-6284-CB6A-55F5-236450A90D11}"/>
              </a:ext>
            </a:extLst>
          </p:cNvPr>
          <p:cNvSpPr txBox="1"/>
          <p:nvPr/>
        </p:nvSpPr>
        <p:spPr>
          <a:xfrm>
            <a:off x="4071256" y="185057"/>
            <a:ext cx="4049486" cy="523220"/>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1" u="sng" dirty="0">
                <a:solidFill>
                  <a:schemeClr val="bg1"/>
                </a:solidFill>
              </a:rPr>
              <a:t>WHO???</a:t>
            </a:r>
            <a:endParaRPr lang="en-US" sz="2800" dirty="0">
              <a:solidFill>
                <a:schemeClr val="bg1"/>
              </a:solidFill>
            </a:endParaRPr>
          </a:p>
        </p:txBody>
      </p:sp>
      <p:sp>
        <p:nvSpPr>
          <p:cNvPr id="2" name="TextBox 1">
            <a:extLst>
              <a:ext uri="{FF2B5EF4-FFF2-40B4-BE49-F238E27FC236}">
                <a16:creationId xmlns:a16="http://schemas.microsoft.com/office/drawing/2014/main" id="{37481C19-E2DE-8F5E-B8E0-9FCF72D87FC9}"/>
              </a:ext>
            </a:extLst>
          </p:cNvPr>
          <p:cNvSpPr txBox="1"/>
          <p:nvPr/>
        </p:nvSpPr>
        <p:spPr>
          <a:xfrm>
            <a:off x="89807" y="944335"/>
            <a:ext cx="12015105" cy="563231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a:buChar char="Ø"/>
            </a:pPr>
            <a:r>
              <a:rPr lang="en-US" sz="2000" b="1" u="sng" dirty="0">
                <a:solidFill>
                  <a:schemeClr val="bg1"/>
                </a:solidFill>
                <a:latin typeface="Comic Sans MS"/>
              </a:rPr>
              <a:t>Primary Audience:</a:t>
            </a:r>
          </a:p>
          <a:p>
            <a:pPr marL="742950" lvl="1" indent="-285750">
              <a:buFont typeface="Courier New"/>
              <a:buChar char="o"/>
            </a:pPr>
            <a:r>
              <a:rPr lang="en-US" sz="2000" dirty="0">
                <a:solidFill>
                  <a:schemeClr val="bg1"/>
                </a:solidFill>
                <a:latin typeface="Comic Sans MS"/>
              </a:rPr>
              <a:t>Homeowners, renters, property managers, and people looking for affordable prices to pay.</a:t>
            </a:r>
          </a:p>
          <a:p>
            <a:pPr marL="285750" indent="-285750">
              <a:buFont typeface="Wingdings"/>
              <a:buChar char="Ø"/>
            </a:pPr>
            <a:endParaRPr lang="en-US" sz="2000" b="1" dirty="0">
              <a:solidFill>
                <a:schemeClr val="bg1"/>
              </a:solidFill>
              <a:latin typeface="Comic Sans MS"/>
            </a:endParaRPr>
          </a:p>
          <a:p>
            <a:pPr marL="285750" indent="-285750">
              <a:buFont typeface="Wingdings"/>
              <a:buChar char="Ø"/>
            </a:pPr>
            <a:r>
              <a:rPr lang="en-US" sz="2000" b="1" u="sng" dirty="0">
                <a:solidFill>
                  <a:schemeClr val="bg1"/>
                </a:solidFill>
                <a:latin typeface="Comic Sans MS"/>
              </a:rPr>
              <a:t>Secondary Audience:</a:t>
            </a:r>
          </a:p>
          <a:p>
            <a:pPr marL="742950" lvl="1" indent="-285750">
              <a:buFont typeface="Courier New"/>
              <a:buChar char="o"/>
            </a:pPr>
            <a:r>
              <a:rPr lang="en-US" sz="2000" dirty="0">
                <a:solidFill>
                  <a:schemeClr val="bg1"/>
                </a:solidFill>
                <a:latin typeface="Comic Sans MS"/>
              </a:rPr>
              <a:t>Skilled workers (even less experienced ones), maintenance professionals, people looking for flexible job opportunities with a better pay rate.</a:t>
            </a:r>
          </a:p>
          <a:p>
            <a:pPr marL="742950" lvl="1" indent="-285750">
              <a:buFont typeface="Arial"/>
              <a:buChar char="•"/>
            </a:pPr>
            <a:endParaRPr lang="en-US" sz="2000" b="1" dirty="0">
              <a:solidFill>
                <a:schemeClr val="bg1"/>
              </a:solidFill>
              <a:latin typeface="Comic Sans MS"/>
            </a:endParaRPr>
          </a:p>
          <a:p>
            <a:pPr marL="285750" indent="-285750">
              <a:buFont typeface="Wingdings,Sans-Serif"/>
              <a:buChar char="Ø"/>
            </a:pPr>
            <a:r>
              <a:rPr lang="en-US" sz="2000" b="1" u="sng" dirty="0">
                <a:solidFill>
                  <a:schemeClr val="bg1"/>
                </a:solidFill>
                <a:latin typeface="Comic Sans MS"/>
              </a:rPr>
              <a:t>Business Reach:</a:t>
            </a:r>
            <a:endParaRPr lang="en-US" sz="2000">
              <a:solidFill>
                <a:schemeClr val="bg1"/>
              </a:solidFill>
              <a:latin typeface="Comic Sans MS"/>
            </a:endParaRPr>
          </a:p>
          <a:p>
            <a:pPr marL="742950" lvl="1" indent="-285750">
              <a:buFont typeface="Courier New,monospace"/>
              <a:buChar char="o"/>
            </a:pPr>
            <a:r>
              <a:rPr lang="en-US" sz="2000" dirty="0">
                <a:solidFill>
                  <a:schemeClr val="bg1"/>
                </a:solidFill>
                <a:latin typeface="Comic Sans MS"/>
              </a:rPr>
              <a:t>Locally and regionally across Canada, especially in urban and suburban areas with higher demands, and people willing to find trustworthy and reliable service at reasonable costs.</a:t>
            </a:r>
            <a:endParaRPr lang="en-US" dirty="0">
              <a:solidFill>
                <a:schemeClr val="bg1"/>
              </a:solidFill>
              <a:latin typeface="Comic Sans MS"/>
            </a:endParaRPr>
          </a:p>
          <a:p>
            <a:pPr lvl="1"/>
            <a:endParaRPr lang="en-US" sz="2000" b="1" dirty="0">
              <a:solidFill>
                <a:schemeClr val="bg1"/>
              </a:solidFill>
              <a:latin typeface="Comic Sans MS"/>
            </a:endParaRPr>
          </a:p>
          <a:p>
            <a:pPr marL="285750" indent="-285750">
              <a:buFont typeface="Wingdings"/>
              <a:buChar char="Ø"/>
            </a:pPr>
            <a:r>
              <a:rPr lang="en-US" sz="2000" b="1" u="sng" dirty="0">
                <a:solidFill>
                  <a:schemeClr val="bg1"/>
                </a:solidFill>
                <a:latin typeface="Comic Sans MS"/>
              </a:rPr>
              <a:t>Opinions:</a:t>
            </a:r>
          </a:p>
          <a:p>
            <a:pPr marL="742950" lvl="1" indent="-285750">
              <a:buFont typeface="Courier New"/>
              <a:buChar char="o"/>
            </a:pPr>
            <a:r>
              <a:rPr lang="en-US" sz="2000" dirty="0">
                <a:solidFill>
                  <a:schemeClr val="bg1"/>
                </a:solidFill>
                <a:latin typeface="Comic Sans MS"/>
              </a:rPr>
              <a:t>Opinions from both sides matter for the success of the platform, as anyone could be at fault (so hearing both sides is crucial) or could make an honest mistake as well.</a:t>
            </a:r>
          </a:p>
          <a:p>
            <a:pPr marL="285750" indent="-285750">
              <a:buFont typeface="Wingdings"/>
              <a:buChar char="Ø"/>
            </a:pPr>
            <a:endParaRPr lang="en-US" sz="2000" b="1" dirty="0">
              <a:solidFill>
                <a:schemeClr val="bg1"/>
              </a:solidFill>
              <a:latin typeface="Comic Sans MS"/>
            </a:endParaRPr>
          </a:p>
          <a:p>
            <a:pPr marL="285750" indent="-285750">
              <a:buFont typeface="Wingdings"/>
              <a:buChar char="Ø"/>
            </a:pPr>
            <a:r>
              <a:rPr lang="en-US" sz="2000" b="1" u="sng" dirty="0">
                <a:solidFill>
                  <a:schemeClr val="bg1"/>
                </a:solidFill>
                <a:latin typeface="Comic Sans MS"/>
              </a:rPr>
              <a:t>Providing Information:</a:t>
            </a:r>
            <a:r>
              <a:rPr lang="en-US" sz="2000" b="1" dirty="0">
                <a:solidFill>
                  <a:schemeClr val="bg1"/>
                </a:solidFill>
                <a:latin typeface="Comic Sans MS"/>
              </a:rPr>
              <a:t> </a:t>
            </a:r>
          </a:p>
          <a:p>
            <a:pPr marL="742950" lvl="1" indent="-285750">
              <a:buFont typeface="Courier New"/>
              <a:buChar char="o"/>
            </a:pPr>
            <a:r>
              <a:rPr lang="en-US" sz="2000" dirty="0">
                <a:solidFill>
                  <a:schemeClr val="bg1"/>
                </a:solidFill>
                <a:latin typeface="Comic Sans MS"/>
              </a:rPr>
              <a:t>Online search engines, digital marketing, social applications, customer reviews, local advertisings, words of mouth, community recommendations, etc.</a:t>
            </a:r>
          </a:p>
        </p:txBody>
      </p:sp>
    </p:spTree>
    <p:extLst>
      <p:ext uri="{BB962C8B-B14F-4D97-AF65-F5344CB8AC3E}">
        <p14:creationId xmlns:p14="http://schemas.microsoft.com/office/powerpoint/2010/main" val="235351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DE35CDCE-79F5-32F1-3818-32A38182A9D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1061C6-8C60-5FF3-7D2F-3B734F97304F}"/>
              </a:ext>
            </a:extLst>
          </p:cNvPr>
          <p:cNvSpPr txBox="1"/>
          <p:nvPr/>
        </p:nvSpPr>
        <p:spPr>
          <a:xfrm>
            <a:off x="4071256" y="185058"/>
            <a:ext cx="4049486" cy="523220"/>
          </a:xfrm>
          <a:prstGeom prst="rect">
            <a:avLst/>
          </a:prstGeom>
          <a:solidFill>
            <a:schemeClr val="tx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1" u="sng" dirty="0">
                <a:solidFill>
                  <a:schemeClr val="bg1"/>
                </a:solidFill>
              </a:rPr>
              <a:t>WHAT???</a:t>
            </a:r>
            <a:endParaRPr lang="en-US" sz="2800" dirty="0">
              <a:solidFill>
                <a:schemeClr val="bg1"/>
              </a:solidFill>
            </a:endParaRPr>
          </a:p>
        </p:txBody>
      </p:sp>
      <p:sp>
        <p:nvSpPr>
          <p:cNvPr id="6" name="TextBox 5">
            <a:extLst>
              <a:ext uri="{FF2B5EF4-FFF2-40B4-BE49-F238E27FC236}">
                <a16:creationId xmlns:a16="http://schemas.microsoft.com/office/drawing/2014/main" id="{C8C03F90-851D-1C7A-B8AE-9913696BEB95}"/>
              </a:ext>
            </a:extLst>
          </p:cNvPr>
          <p:cNvSpPr txBox="1"/>
          <p:nvPr/>
        </p:nvSpPr>
        <p:spPr>
          <a:xfrm>
            <a:off x="323851" y="1442356"/>
            <a:ext cx="11547020" cy="4678204"/>
          </a:xfrm>
          <a:prstGeom prst="rect">
            <a:avLst/>
          </a:prstGeom>
          <a:solidFill>
            <a:schemeClr val="bg1">
              <a:lumMod val="95000"/>
            </a:scheme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b="1" u="sng" dirty="0">
                <a:latin typeface="Franklin Gothic"/>
              </a:rPr>
              <a:t>Constraints:</a:t>
            </a:r>
          </a:p>
          <a:p>
            <a:pPr marL="742950" lvl="1" indent="-285750">
              <a:buFont typeface="Courier New"/>
              <a:buChar char="o"/>
            </a:pPr>
            <a:r>
              <a:rPr lang="en-US" sz="2000" dirty="0">
                <a:latin typeface="Franklin Gothic"/>
              </a:rPr>
              <a:t>Limited knowledge about backend work and architecture knowledge.</a:t>
            </a:r>
          </a:p>
          <a:p>
            <a:pPr marL="742950" lvl="1" indent="-285750">
              <a:buFont typeface="Courier New"/>
              <a:buChar char="o"/>
            </a:pPr>
            <a:r>
              <a:rPr lang="en-US" sz="2000" dirty="0">
                <a:latin typeface="Franklin Gothic"/>
              </a:rPr>
              <a:t>Limited technology usage in the form of CSS, HTML, SQL etc.</a:t>
            </a:r>
          </a:p>
          <a:p>
            <a:pPr marL="742950" lvl="1" indent="-285750">
              <a:buFont typeface="Courier New"/>
              <a:buChar char="o"/>
            </a:pPr>
            <a:r>
              <a:rPr lang="en-US" sz="2000" dirty="0">
                <a:latin typeface="Franklin Gothic"/>
              </a:rPr>
              <a:t>Limited budget for marketing on a wide scale.</a:t>
            </a:r>
          </a:p>
          <a:p>
            <a:pPr marL="742950" lvl="1" indent="-285750">
              <a:buFont typeface="Courier New"/>
              <a:buChar char="o"/>
            </a:pPr>
            <a:r>
              <a:rPr lang="en-US" sz="2000" dirty="0">
                <a:latin typeface="Franklin Gothic"/>
              </a:rPr>
              <a:t>Limited information about sources that could verify our workers by background check.</a:t>
            </a:r>
          </a:p>
          <a:p>
            <a:pPr marL="742950" lvl="1" indent="-285750">
              <a:buFont typeface="Courier New"/>
              <a:buChar char="o"/>
            </a:pPr>
            <a:r>
              <a:rPr lang="en-US" sz="2000" dirty="0">
                <a:latin typeface="Franklin Gothic"/>
              </a:rPr>
              <a:t>Limited sources to authenticate the accurate size of the piece of land where work takes place.</a:t>
            </a:r>
          </a:p>
          <a:p>
            <a:pPr marL="285750" indent="-285750">
              <a:buFont typeface="Wingdings"/>
              <a:buChar char="Ø"/>
            </a:pPr>
            <a:endParaRPr lang="en-US" sz="2000" dirty="0">
              <a:latin typeface="Franklin Gothic"/>
            </a:endParaRPr>
          </a:p>
          <a:p>
            <a:pPr marL="285750" indent="-285750">
              <a:buFont typeface="Wingdings"/>
              <a:buChar char="Ø"/>
            </a:pPr>
            <a:r>
              <a:rPr lang="en-US" sz="2000" b="1" u="sng" dirty="0">
                <a:latin typeface="Franklin Gothic"/>
              </a:rPr>
              <a:t>Vision:</a:t>
            </a:r>
          </a:p>
          <a:p>
            <a:pPr marL="742950" lvl="1" indent="-285750">
              <a:buFont typeface="Courier New"/>
              <a:buChar char="o"/>
            </a:pPr>
            <a:r>
              <a:rPr lang="en-US" sz="2000" dirty="0">
                <a:latin typeface="Franklin Gothic"/>
              </a:rPr>
              <a:t>Having an independent database with available job postings, for people willing to provide service.</a:t>
            </a:r>
          </a:p>
          <a:p>
            <a:pPr marL="742950" lvl="1" indent="-285750">
              <a:buFont typeface="Courier New"/>
              <a:buChar char="o"/>
            </a:pPr>
            <a:r>
              <a:rPr lang="en-US" sz="2000" dirty="0">
                <a:latin typeface="Franklin Gothic"/>
              </a:rPr>
              <a:t>Ratings and reviews from customers to help solidify a worker's status on the platform.</a:t>
            </a:r>
          </a:p>
          <a:p>
            <a:pPr marL="742950" lvl="1" indent="-285750">
              <a:buFont typeface="Courier New"/>
              <a:buChar char="o"/>
            </a:pPr>
            <a:r>
              <a:rPr lang="en-US" sz="2000" dirty="0">
                <a:latin typeface="Franklin Gothic"/>
              </a:rPr>
              <a:t>Enhancing skills without the pressure of an employer and recognition in the community.</a:t>
            </a:r>
          </a:p>
          <a:p>
            <a:pPr marL="742950" lvl="1" indent="-285750">
              <a:buFont typeface="Courier New"/>
              <a:buChar char="o"/>
            </a:pPr>
            <a:r>
              <a:rPr lang="en-US" sz="2000" dirty="0">
                <a:latin typeface="Franklin Gothic"/>
              </a:rPr>
              <a:t>Dividing the jobs into 2 categories – Immediate and scheduled.</a:t>
            </a:r>
          </a:p>
          <a:p>
            <a:pPr marL="742950" lvl="1" indent="-285750">
              <a:buFont typeface="Courier New"/>
              <a:buChar char="o"/>
            </a:pPr>
            <a:r>
              <a:rPr lang="en-US" sz="2000" dirty="0">
                <a:latin typeface="Franklin Gothic"/>
              </a:rPr>
              <a:t>System providing autonomy and independent decision making opportunity for workers.</a:t>
            </a:r>
          </a:p>
          <a:p>
            <a:pPr marL="742950" lvl="1" indent="-285750">
              <a:buFont typeface="Courier New"/>
              <a:buChar char="o"/>
            </a:pPr>
            <a:r>
              <a:rPr lang="en-US" sz="2000" dirty="0">
                <a:latin typeface="Franklin Gothic"/>
              </a:rPr>
              <a:t>Jobs like gigs without commitment to a specific company in the market.</a:t>
            </a:r>
          </a:p>
          <a:p>
            <a:pPr marL="742950" lvl="1" indent="-285750">
              <a:buFont typeface="Courier New"/>
              <a:buChar char="o"/>
            </a:pPr>
            <a:endParaRPr lang="en-US" dirty="0"/>
          </a:p>
        </p:txBody>
      </p:sp>
    </p:spTree>
    <p:extLst>
      <p:ext uri="{BB962C8B-B14F-4D97-AF65-F5344CB8AC3E}">
        <p14:creationId xmlns:p14="http://schemas.microsoft.com/office/powerpoint/2010/main" val="3401826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247ADF-31B9-DC36-444D-B68B27248D67}"/>
              </a:ext>
            </a:extLst>
          </p:cNvPr>
          <p:cNvSpPr txBox="1"/>
          <p:nvPr/>
        </p:nvSpPr>
        <p:spPr>
          <a:xfrm>
            <a:off x="1883228" y="1445079"/>
            <a:ext cx="843642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Batang"/>
                <a:ea typeface="Batang"/>
              </a:rPr>
              <a:t>Any Questions?</a:t>
            </a:r>
          </a:p>
          <a:p>
            <a:pPr algn="ctr"/>
            <a:endParaRPr lang="en-US" sz="3600" b="1" dirty="0">
              <a:latin typeface="Batang"/>
              <a:ea typeface="Batang"/>
            </a:endParaRPr>
          </a:p>
          <a:p>
            <a:pPr algn="ctr"/>
            <a:r>
              <a:rPr lang="en-US" sz="3600" b="1" dirty="0">
                <a:latin typeface="Batang"/>
                <a:ea typeface="Batang"/>
              </a:rPr>
              <a:t>Any Suggestions?</a:t>
            </a:r>
          </a:p>
          <a:p>
            <a:pPr algn="ctr"/>
            <a:endParaRPr lang="en-US" sz="3600" b="1" dirty="0">
              <a:latin typeface="Batang"/>
              <a:ea typeface="Batang"/>
            </a:endParaRPr>
          </a:p>
          <a:p>
            <a:pPr algn="ctr"/>
            <a:r>
              <a:rPr lang="en-US" sz="3600" b="1" dirty="0">
                <a:latin typeface="Batang"/>
                <a:ea typeface="Batang"/>
              </a:rPr>
              <a:t>Any Specifications?</a:t>
            </a:r>
          </a:p>
          <a:p>
            <a:pPr algn="ctr"/>
            <a:endParaRPr lang="en-US" sz="3600" b="1" dirty="0">
              <a:latin typeface="Batang"/>
              <a:ea typeface="Batang"/>
            </a:endParaRPr>
          </a:p>
          <a:p>
            <a:pPr algn="ctr"/>
            <a:r>
              <a:rPr lang="en-US" sz="3600" b="1" dirty="0">
                <a:latin typeface="Batang"/>
                <a:ea typeface="Batang"/>
              </a:rPr>
              <a:t>Any Recommendations?</a:t>
            </a:r>
          </a:p>
        </p:txBody>
      </p:sp>
    </p:spTree>
    <p:extLst>
      <p:ext uri="{BB962C8B-B14F-4D97-AF65-F5344CB8AC3E}">
        <p14:creationId xmlns:p14="http://schemas.microsoft.com/office/powerpoint/2010/main" val="1760666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6928D1-16D7-C064-93AB-1E80DB8C4F17}"/>
              </a:ext>
            </a:extLst>
          </p:cNvPr>
          <p:cNvPicPr>
            <a:picLocks noChangeAspect="1"/>
          </p:cNvPicPr>
          <p:nvPr/>
        </p:nvPicPr>
        <p:blipFill>
          <a:blip r:embed="rId2"/>
          <a:stretch>
            <a:fillRect/>
          </a:stretch>
        </p:blipFill>
        <p:spPr>
          <a:xfrm>
            <a:off x="6913217" y="560250"/>
            <a:ext cx="4450523" cy="3429414"/>
          </a:xfrm>
          <a:prstGeom prst="rect">
            <a:avLst/>
          </a:prstGeom>
          <a:ln w="228600" cap="sq" cmpd="thickThin">
            <a:solidFill>
              <a:srgbClr val="000000"/>
            </a:solidFill>
            <a:prstDash val="solid"/>
            <a:miter lim="800000"/>
          </a:ln>
          <a:effectLst>
            <a:innerShdw blurRad="76200">
              <a:srgbClr val="000000"/>
            </a:innerShdw>
          </a:effectLst>
        </p:spPr>
      </p:pic>
      <p:pic>
        <p:nvPicPr>
          <p:cNvPr id="3" name="Picture 2" descr="A black background with text&#10;&#10;AI-generated content may be incorrect.">
            <a:extLst>
              <a:ext uri="{FF2B5EF4-FFF2-40B4-BE49-F238E27FC236}">
                <a16:creationId xmlns:a16="http://schemas.microsoft.com/office/drawing/2014/main" id="{7165A81C-A77C-A7B8-F7E5-14CEC427D57E}"/>
              </a:ext>
            </a:extLst>
          </p:cNvPr>
          <p:cNvPicPr>
            <a:picLocks noChangeAspect="1"/>
          </p:cNvPicPr>
          <p:nvPr/>
        </p:nvPicPr>
        <p:blipFill>
          <a:blip r:embed="rId3"/>
          <a:stretch>
            <a:fillRect/>
          </a:stretch>
        </p:blipFill>
        <p:spPr>
          <a:xfrm>
            <a:off x="819978" y="563011"/>
            <a:ext cx="4444999" cy="3429000"/>
          </a:xfrm>
          <a:prstGeom prst="rect">
            <a:avLst/>
          </a:prstGeom>
          <a:ln w="228600" cap="sq" cmpd="thickThin">
            <a:solidFill>
              <a:srgbClr val="000000"/>
            </a:solidFill>
            <a:prstDash val="solid"/>
            <a:miter lim="800000"/>
          </a:ln>
          <a:effectLst>
            <a:innerShdw blurRad="76200">
              <a:srgbClr val="000000"/>
            </a:innerShdw>
          </a:effectLst>
        </p:spPr>
      </p:pic>
      <p:pic>
        <p:nvPicPr>
          <p:cNvPr id="4" name="Picture 3" descr="A black and white checkered pattern&#10;&#10;AI-generated content may be incorrect.">
            <a:extLst>
              <a:ext uri="{FF2B5EF4-FFF2-40B4-BE49-F238E27FC236}">
                <a16:creationId xmlns:a16="http://schemas.microsoft.com/office/drawing/2014/main" id="{A516D5F5-2F79-6B31-EBBE-9BD9E43E214E}"/>
              </a:ext>
            </a:extLst>
          </p:cNvPr>
          <p:cNvPicPr>
            <a:picLocks noChangeAspect="1"/>
          </p:cNvPicPr>
          <p:nvPr/>
        </p:nvPicPr>
        <p:blipFill>
          <a:blip r:embed="rId4"/>
          <a:srcRect l="10909" t="46774" r="11182" b="5161"/>
          <a:stretch>
            <a:fillRect/>
          </a:stretch>
        </p:blipFill>
        <p:spPr>
          <a:xfrm>
            <a:off x="-1" y="4872935"/>
            <a:ext cx="12203059" cy="1648129"/>
          </a:xfrm>
          <a:prstGeom prst="rect">
            <a:avLst/>
          </a:prstGeom>
        </p:spPr>
      </p:pic>
    </p:spTree>
    <p:extLst>
      <p:ext uri="{BB962C8B-B14F-4D97-AF65-F5344CB8AC3E}">
        <p14:creationId xmlns:p14="http://schemas.microsoft.com/office/powerpoint/2010/main" val="2771659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623</cp:revision>
  <dcterms:created xsi:type="dcterms:W3CDTF">2025-09-30T23:13:53Z</dcterms:created>
  <dcterms:modified xsi:type="dcterms:W3CDTF">2026-01-28T16:32:29Z</dcterms:modified>
</cp:coreProperties>
</file>