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82" r:id="rId1"/>
    <p:sldMasterId id="2147483900" r:id="rId2"/>
  </p:sldMasterIdLst>
  <p:notesMasterIdLst>
    <p:notesMasterId r:id="rId15"/>
  </p:notesMasterIdLst>
  <p:sldIdLst>
    <p:sldId id="256" r:id="rId3"/>
    <p:sldId id="257" r:id="rId4"/>
    <p:sldId id="269" r:id="rId5"/>
    <p:sldId id="260" r:id="rId6"/>
    <p:sldId id="270" r:id="rId7"/>
    <p:sldId id="264" r:id="rId8"/>
    <p:sldId id="272" r:id="rId9"/>
    <p:sldId id="267" r:id="rId10"/>
    <p:sldId id="271" r:id="rId11"/>
    <p:sldId id="273" r:id="rId12"/>
    <p:sldId id="262" r:id="rId13"/>
    <p:sldId id="263" r:id="rId1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47E32-7EA8-57CE-AFB5-B9036016E198}" v="91" dt="2026-04-10T08:26:12.963"/>
    <p1510:client id="{50B91898-2937-1A6B-0944-A9A48C99739B}" v="1276" dt="2026-04-10T08:03:19.490"/>
    <p1510:client id="{5DEFEAAB-A2F6-4DC5-AF9A-C8CAA093E256}" v="708" dt="2026-04-08T21:30:36.582"/>
    <p1510:client id="{6CE622F0-932F-46BA-9319-6DE53B41785B}" v="41" dt="2026-04-08T21:01:49.0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2999F4-AB93-478B-B1E3-0F1860CFDE2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FF8907-E597-4C2B-973E-6D0D829BE0BE}">
      <dgm:prSet/>
      <dgm:spPr/>
      <dgm:t>
        <a:bodyPr/>
        <a:lstStyle/>
        <a:p>
          <a:r>
            <a:rPr lang="en-US" b="0"/>
            <a:t>We implemented an MVC (Model-View-Controller) architecture:</a:t>
          </a:r>
          <a:endParaRPr lang="en-US"/>
        </a:p>
      </dgm:t>
    </dgm:pt>
    <dgm:pt modelId="{ABC599C3-B8FF-424B-8BB1-D113073A1873}" type="parTrans" cxnId="{9971296B-1875-4A3D-AB7D-F459A10917A9}">
      <dgm:prSet/>
      <dgm:spPr/>
      <dgm:t>
        <a:bodyPr/>
        <a:lstStyle/>
        <a:p>
          <a:endParaRPr lang="en-US"/>
        </a:p>
      </dgm:t>
    </dgm:pt>
    <dgm:pt modelId="{27131AEC-A3E7-47A2-97C2-D690C33623A2}" type="sibTrans" cxnId="{9971296B-1875-4A3D-AB7D-F459A10917A9}">
      <dgm:prSet/>
      <dgm:spPr/>
      <dgm:t>
        <a:bodyPr/>
        <a:lstStyle/>
        <a:p>
          <a:endParaRPr lang="en-US"/>
        </a:p>
      </dgm:t>
    </dgm:pt>
    <dgm:pt modelId="{20B98CF7-DEB2-41BD-B521-DC555CCFE1C8}">
      <dgm:prSet/>
      <dgm:spPr/>
      <dgm:t>
        <a:bodyPr/>
        <a:lstStyle/>
        <a:p>
          <a:pPr rtl="0"/>
          <a:r>
            <a:rPr lang="en-US" b="0"/>
            <a:t>Model: Handles data</a:t>
          </a:r>
          <a:r>
            <a:rPr lang="en-US">
              <a:latin typeface="Century Gothic" panose="020B0502020202020204"/>
            </a:rPr>
            <a:t> in the form of databases or schemas</a:t>
          </a:r>
          <a:endParaRPr lang="en-US"/>
        </a:p>
      </dgm:t>
    </dgm:pt>
    <dgm:pt modelId="{051EA879-8BCE-448D-B3A2-9DBC5025EBBE}" type="parTrans" cxnId="{68C9C6EF-66D7-4354-A3DA-17CF8365CAA9}">
      <dgm:prSet/>
      <dgm:spPr/>
      <dgm:t>
        <a:bodyPr/>
        <a:lstStyle/>
        <a:p>
          <a:endParaRPr lang="en-US"/>
        </a:p>
      </dgm:t>
    </dgm:pt>
    <dgm:pt modelId="{61EFB467-5792-465A-B5C5-F8C136D31A16}" type="sibTrans" cxnId="{68C9C6EF-66D7-4354-A3DA-17CF8365CAA9}">
      <dgm:prSet/>
      <dgm:spPr/>
      <dgm:t>
        <a:bodyPr/>
        <a:lstStyle/>
        <a:p>
          <a:endParaRPr lang="en-US"/>
        </a:p>
      </dgm:t>
    </dgm:pt>
    <dgm:pt modelId="{824EA2E5-E9E1-4D5D-B15C-D087FA858775}">
      <dgm:prSet/>
      <dgm:spPr/>
      <dgm:t>
        <a:bodyPr/>
        <a:lstStyle/>
        <a:p>
          <a:pPr rtl="0"/>
          <a:r>
            <a:rPr lang="en-US" b="0" dirty="0"/>
            <a:t>View: Displays the interface to users </a:t>
          </a:r>
          <a:r>
            <a:rPr lang="en-US" dirty="0">
              <a:latin typeface="Century Gothic" panose="020B0502020202020204"/>
            </a:rPr>
            <a:t>as different pages or popups</a:t>
          </a:r>
          <a:endParaRPr lang="en-US" dirty="0"/>
        </a:p>
      </dgm:t>
    </dgm:pt>
    <dgm:pt modelId="{267BA57F-4640-4734-AF90-375253DC293D}" type="parTrans" cxnId="{368EC570-1558-4B74-AAC0-36C30250DE53}">
      <dgm:prSet/>
      <dgm:spPr/>
      <dgm:t>
        <a:bodyPr/>
        <a:lstStyle/>
        <a:p>
          <a:endParaRPr lang="en-US"/>
        </a:p>
      </dgm:t>
    </dgm:pt>
    <dgm:pt modelId="{F42FE22F-AC4D-4CD9-865A-49A932206F47}" type="sibTrans" cxnId="{368EC570-1558-4B74-AAC0-36C30250DE53}">
      <dgm:prSet/>
      <dgm:spPr/>
      <dgm:t>
        <a:bodyPr/>
        <a:lstStyle/>
        <a:p>
          <a:endParaRPr lang="en-US"/>
        </a:p>
      </dgm:t>
    </dgm:pt>
    <dgm:pt modelId="{D66541F5-80B9-4D24-90DA-FDD02C3F6C8A}">
      <dgm:prSet/>
      <dgm:spPr/>
      <dgm:t>
        <a:bodyPr/>
        <a:lstStyle/>
        <a:p>
          <a:pPr rtl="0"/>
          <a:r>
            <a:rPr lang="en-US" b="0" dirty="0"/>
            <a:t>Controller: Manages logic and interactions </a:t>
          </a:r>
          <a:r>
            <a:rPr lang="en-US" dirty="0">
              <a:latin typeface="Century Gothic" panose="020B0502020202020204"/>
            </a:rPr>
            <a:t>by providing control or functionality</a:t>
          </a:r>
          <a:endParaRPr lang="en-US" dirty="0"/>
        </a:p>
      </dgm:t>
    </dgm:pt>
    <dgm:pt modelId="{94899059-73E7-43F5-8733-D22F196BA321}" type="parTrans" cxnId="{2D939023-0B62-4AE6-9005-B47E21C7FF9C}">
      <dgm:prSet/>
      <dgm:spPr/>
      <dgm:t>
        <a:bodyPr/>
        <a:lstStyle/>
        <a:p>
          <a:endParaRPr lang="en-US"/>
        </a:p>
      </dgm:t>
    </dgm:pt>
    <dgm:pt modelId="{9F292A1E-09D9-49FC-8021-BE4FE9108A23}" type="sibTrans" cxnId="{2D939023-0B62-4AE6-9005-B47E21C7FF9C}">
      <dgm:prSet/>
      <dgm:spPr/>
      <dgm:t>
        <a:bodyPr/>
        <a:lstStyle/>
        <a:p>
          <a:endParaRPr lang="en-US"/>
        </a:p>
      </dgm:t>
    </dgm:pt>
    <dgm:pt modelId="{6FBD2C2E-0288-4AC9-9D27-F02464CA2792}">
      <dgm:prSet/>
      <dgm:spPr/>
      <dgm:t>
        <a:bodyPr/>
        <a:lstStyle/>
        <a:p>
          <a:pPr rtl="0"/>
          <a:r>
            <a:rPr lang="en-US" b="0"/>
            <a:t>This </a:t>
          </a:r>
          <a:r>
            <a:rPr lang="en-US" b="0">
              <a:latin typeface="Century Gothic" panose="020B0502020202020204"/>
            </a:rPr>
            <a:t>individuality of each aspect of architecture</a:t>
          </a:r>
          <a:r>
            <a:rPr lang="en-US" b="0" dirty="0">
              <a:latin typeface="Century Gothic" panose="020B0502020202020204"/>
            </a:rPr>
            <a:t> </a:t>
          </a:r>
          <a:r>
            <a:rPr lang="en-US" b="0" dirty="0"/>
            <a:t>allowed us to:</a:t>
          </a:r>
          <a:endParaRPr lang="en-US" dirty="0"/>
        </a:p>
      </dgm:t>
    </dgm:pt>
    <dgm:pt modelId="{044D1DB3-2F52-4AB5-96ED-96D952E3F1DA}" type="parTrans" cxnId="{B884443E-6A2A-4935-ADE2-9717B05F691C}">
      <dgm:prSet/>
      <dgm:spPr/>
      <dgm:t>
        <a:bodyPr/>
        <a:lstStyle/>
        <a:p>
          <a:endParaRPr lang="en-US"/>
        </a:p>
      </dgm:t>
    </dgm:pt>
    <dgm:pt modelId="{8BD7F916-579D-4967-8EB2-B5B23955516A}" type="sibTrans" cxnId="{B884443E-6A2A-4935-ADE2-9717B05F691C}">
      <dgm:prSet/>
      <dgm:spPr/>
      <dgm:t>
        <a:bodyPr/>
        <a:lstStyle/>
        <a:p>
          <a:endParaRPr lang="en-US"/>
        </a:p>
      </dgm:t>
    </dgm:pt>
    <dgm:pt modelId="{029D322C-072E-490B-B4A7-711ABF02EA75}">
      <dgm:prSet/>
      <dgm:spPr/>
      <dgm:t>
        <a:bodyPr/>
        <a:lstStyle/>
        <a:p>
          <a:r>
            <a:rPr lang="en-US" b="0"/>
            <a:t>Maintain clean code </a:t>
          </a:r>
          <a:endParaRPr lang="en-US"/>
        </a:p>
      </dgm:t>
    </dgm:pt>
    <dgm:pt modelId="{7C51EE84-8B8D-48C5-AA6B-AD948AC1715B}" type="parTrans" cxnId="{A3322E3C-0E91-451C-85D9-FF5709CD4DDF}">
      <dgm:prSet/>
      <dgm:spPr/>
      <dgm:t>
        <a:bodyPr/>
        <a:lstStyle/>
        <a:p>
          <a:endParaRPr lang="en-US"/>
        </a:p>
      </dgm:t>
    </dgm:pt>
    <dgm:pt modelId="{57156840-987E-478C-AADE-245A77ED389F}" type="sibTrans" cxnId="{A3322E3C-0E91-451C-85D9-FF5709CD4DDF}">
      <dgm:prSet/>
      <dgm:spPr/>
      <dgm:t>
        <a:bodyPr/>
        <a:lstStyle/>
        <a:p>
          <a:endParaRPr lang="en-US"/>
        </a:p>
      </dgm:t>
    </dgm:pt>
    <dgm:pt modelId="{96433912-9CCA-477C-90F4-644134DD2173}">
      <dgm:prSet/>
      <dgm:spPr/>
      <dgm:t>
        <a:bodyPr/>
        <a:lstStyle/>
        <a:p>
          <a:r>
            <a:rPr lang="en-US" b="0"/>
            <a:t>Improve scalability </a:t>
          </a:r>
          <a:endParaRPr lang="en-US"/>
        </a:p>
      </dgm:t>
    </dgm:pt>
    <dgm:pt modelId="{01D91E11-32A2-40CB-8922-D6C0DB7C7B70}" type="parTrans" cxnId="{9FA9AD8E-9315-4788-96EF-E1C4CB237A9F}">
      <dgm:prSet/>
      <dgm:spPr/>
      <dgm:t>
        <a:bodyPr/>
        <a:lstStyle/>
        <a:p>
          <a:endParaRPr lang="en-US"/>
        </a:p>
      </dgm:t>
    </dgm:pt>
    <dgm:pt modelId="{D894FA8B-4076-4E49-94B8-750555D17314}" type="sibTrans" cxnId="{9FA9AD8E-9315-4788-96EF-E1C4CB237A9F}">
      <dgm:prSet/>
      <dgm:spPr/>
      <dgm:t>
        <a:bodyPr/>
        <a:lstStyle/>
        <a:p>
          <a:endParaRPr lang="en-US"/>
        </a:p>
      </dgm:t>
    </dgm:pt>
    <dgm:pt modelId="{8533D84F-3E07-496C-8671-259E0CA40FFB}">
      <dgm:prSet/>
      <dgm:spPr/>
      <dgm:t>
        <a:bodyPr/>
        <a:lstStyle/>
        <a:p>
          <a:r>
            <a:rPr lang="en-US" b="0"/>
            <a:t>Simplify debugging</a:t>
          </a:r>
          <a:endParaRPr lang="en-US"/>
        </a:p>
      </dgm:t>
    </dgm:pt>
    <dgm:pt modelId="{008D84FA-4365-4176-BAA3-592C3D79BE26}" type="parTrans" cxnId="{14123797-ACD8-4AA9-94EA-C900A8EA848C}">
      <dgm:prSet/>
      <dgm:spPr/>
      <dgm:t>
        <a:bodyPr/>
        <a:lstStyle/>
        <a:p>
          <a:endParaRPr lang="en-US"/>
        </a:p>
      </dgm:t>
    </dgm:pt>
    <dgm:pt modelId="{163AF1D7-1BC2-4AB2-93A0-C61189EB650C}" type="sibTrans" cxnId="{14123797-ACD8-4AA9-94EA-C900A8EA848C}">
      <dgm:prSet/>
      <dgm:spPr/>
      <dgm:t>
        <a:bodyPr/>
        <a:lstStyle/>
        <a:p>
          <a:endParaRPr lang="en-US"/>
        </a:p>
      </dgm:t>
    </dgm:pt>
    <dgm:pt modelId="{F3E2516A-E3C8-4349-9A36-14C1CEF53F82}" type="pres">
      <dgm:prSet presAssocID="{A32999F4-AB93-478B-B1E3-0F1860CFDE23}" presName="linear" presStyleCnt="0">
        <dgm:presLayoutVars>
          <dgm:animLvl val="lvl"/>
          <dgm:resizeHandles val="exact"/>
        </dgm:presLayoutVars>
      </dgm:prSet>
      <dgm:spPr/>
    </dgm:pt>
    <dgm:pt modelId="{A035BC63-C64A-45EA-B364-9E70285250C5}" type="pres">
      <dgm:prSet presAssocID="{E0FF8907-E597-4C2B-973E-6D0D829BE0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6B35C4-F6E3-4DFF-8E04-1DC57D86FAF8}" type="pres">
      <dgm:prSet presAssocID="{E0FF8907-E597-4C2B-973E-6D0D829BE0BE}" presName="childText" presStyleLbl="revTx" presStyleIdx="0" presStyleCnt="2">
        <dgm:presLayoutVars>
          <dgm:bulletEnabled val="1"/>
        </dgm:presLayoutVars>
      </dgm:prSet>
      <dgm:spPr/>
    </dgm:pt>
    <dgm:pt modelId="{A9300105-06F9-4A38-9C36-4680AD546184}" type="pres">
      <dgm:prSet presAssocID="{6FBD2C2E-0288-4AC9-9D27-F02464CA279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9818F14-B6C6-44CF-B64E-BC48A78C1AA8}" type="pres">
      <dgm:prSet presAssocID="{6FBD2C2E-0288-4AC9-9D27-F02464CA279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AD12A23-EFD4-4217-AD3E-72A98D018B6B}" type="presOf" srcId="{A32999F4-AB93-478B-B1E3-0F1860CFDE23}" destId="{F3E2516A-E3C8-4349-9A36-14C1CEF53F82}" srcOrd="0" destOrd="0" presId="urn:microsoft.com/office/officeart/2005/8/layout/vList2"/>
    <dgm:cxn modelId="{2D939023-0B62-4AE6-9005-B47E21C7FF9C}" srcId="{E0FF8907-E597-4C2B-973E-6D0D829BE0BE}" destId="{D66541F5-80B9-4D24-90DA-FDD02C3F6C8A}" srcOrd="2" destOrd="0" parTransId="{94899059-73E7-43F5-8733-D22F196BA321}" sibTransId="{9F292A1E-09D9-49FC-8021-BE4FE9108A23}"/>
    <dgm:cxn modelId="{D8272B3B-AF8B-439D-9A22-7A8E4DA4F238}" type="presOf" srcId="{20B98CF7-DEB2-41BD-B521-DC555CCFE1C8}" destId="{486B35C4-F6E3-4DFF-8E04-1DC57D86FAF8}" srcOrd="0" destOrd="0" presId="urn:microsoft.com/office/officeart/2005/8/layout/vList2"/>
    <dgm:cxn modelId="{A3322E3C-0E91-451C-85D9-FF5709CD4DDF}" srcId="{6FBD2C2E-0288-4AC9-9D27-F02464CA2792}" destId="{029D322C-072E-490B-B4A7-711ABF02EA75}" srcOrd="0" destOrd="0" parTransId="{7C51EE84-8B8D-48C5-AA6B-AD948AC1715B}" sibTransId="{57156840-987E-478C-AADE-245A77ED389F}"/>
    <dgm:cxn modelId="{B884443E-6A2A-4935-ADE2-9717B05F691C}" srcId="{A32999F4-AB93-478B-B1E3-0F1860CFDE23}" destId="{6FBD2C2E-0288-4AC9-9D27-F02464CA2792}" srcOrd="1" destOrd="0" parTransId="{044D1DB3-2F52-4AB5-96ED-96D952E3F1DA}" sibTransId="{8BD7F916-579D-4967-8EB2-B5B23955516A}"/>
    <dgm:cxn modelId="{9971296B-1875-4A3D-AB7D-F459A10917A9}" srcId="{A32999F4-AB93-478B-B1E3-0F1860CFDE23}" destId="{E0FF8907-E597-4C2B-973E-6D0D829BE0BE}" srcOrd="0" destOrd="0" parTransId="{ABC599C3-B8FF-424B-8BB1-D113073A1873}" sibTransId="{27131AEC-A3E7-47A2-97C2-D690C33623A2}"/>
    <dgm:cxn modelId="{368EC570-1558-4B74-AAC0-36C30250DE53}" srcId="{E0FF8907-E597-4C2B-973E-6D0D829BE0BE}" destId="{824EA2E5-E9E1-4D5D-B15C-D087FA858775}" srcOrd="1" destOrd="0" parTransId="{267BA57F-4640-4734-AF90-375253DC293D}" sibTransId="{F42FE22F-AC4D-4CD9-865A-49A932206F47}"/>
    <dgm:cxn modelId="{92E00553-72C7-4111-8F3F-6B33D0CDD0A7}" type="presOf" srcId="{D66541F5-80B9-4D24-90DA-FDD02C3F6C8A}" destId="{486B35C4-F6E3-4DFF-8E04-1DC57D86FAF8}" srcOrd="0" destOrd="2" presId="urn:microsoft.com/office/officeart/2005/8/layout/vList2"/>
    <dgm:cxn modelId="{E4420D82-7AF0-443F-8FF3-3EACD1C8A8AC}" type="presOf" srcId="{E0FF8907-E597-4C2B-973E-6D0D829BE0BE}" destId="{A035BC63-C64A-45EA-B364-9E70285250C5}" srcOrd="0" destOrd="0" presId="urn:microsoft.com/office/officeart/2005/8/layout/vList2"/>
    <dgm:cxn modelId="{9FA9AD8E-9315-4788-96EF-E1C4CB237A9F}" srcId="{6FBD2C2E-0288-4AC9-9D27-F02464CA2792}" destId="{96433912-9CCA-477C-90F4-644134DD2173}" srcOrd="1" destOrd="0" parTransId="{01D91E11-32A2-40CB-8922-D6C0DB7C7B70}" sibTransId="{D894FA8B-4076-4E49-94B8-750555D17314}"/>
    <dgm:cxn modelId="{14123797-ACD8-4AA9-94EA-C900A8EA848C}" srcId="{6FBD2C2E-0288-4AC9-9D27-F02464CA2792}" destId="{8533D84F-3E07-496C-8671-259E0CA40FFB}" srcOrd="2" destOrd="0" parTransId="{008D84FA-4365-4176-BAA3-592C3D79BE26}" sibTransId="{163AF1D7-1BC2-4AB2-93A0-C61189EB650C}"/>
    <dgm:cxn modelId="{CE2FB89D-9BA3-4BC0-BED6-AFA66A4AC58E}" type="presOf" srcId="{8533D84F-3E07-496C-8671-259E0CA40FFB}" destId="{B9818F14-B6C6-44CF-B64E-BC48A78C1AA8}" srcOrd="0" destOrd="2" presId="urn:microsoft.com/office/officeart/2005/8/layout/vList2"/>
    <dgm:cxn modelId="{796379C6-6F25-4761-9A46-F0CA569F530D}" type="presOf" srcId="{96433912-9CCA-477C-90F4-644134DD2173}" destId="{B9818F14-B6C6-44CF-B64E-BC48A78C1AA8}" srcOrd="0" destOrd="1" presId="urn:microsoft.com/office/officeart/2005/8/layout/vList2"/>
    <dgm:cxn modelId="{A8D703D0-025D-448B-AF3A-312308C1E76B}" type="presOf" srcId="{6FBD2C2E-0288-4AC9-9D27-F02464CA2792}" destId="{A9300105-06F9-4A38-9C36-4680AD546184}" srcOrd="0" destOrd="0" presId="urn:microsoft.com/office/officeart/2005/8/layout/vList2"/>
    <dgm:cxn modelId="{03B491E5-BC4C-4A8A-AB17-FEA721C878AE}" type="presOf" srcId="{029D322C-072E-490B-B4A7-711ABF02EA75}" destId="{B9818F14-B6C6-44CF-B64E-BC48A78C1AA8}" srcOrd="0" destOrd="0" presId="urn:microsoft.com/office/officeart/2005/8/layout/vList2"/>
    <dgm:cxn modelId="{68C9C6EF-66D7-4354-A3DA-17CF8365CAA9}" srcId="{E0FF8907-E597-4C2B-973E-6D0D829BE0BE}" destId="{20B98CF7-DEB2-41BD-B521-DC555CCFE1C8}" srcOrd="0" destOrd="0" parTransId="{051EA879-8BCE-448D-B3A2-9DBC5025EBBE}" sibTransId="{61EFB467-5792-465A-B5C5-F8C136D31A16}"/>
    <dgm:cxn modelId="{45AD23FD-D311-4341-BE67-3616E8E82397}" type="presOf" srcId="{824EA2E5-E9E1-4D5D-B15C-D087FA858775}" destId="{486B35C4-F6E3-4DFF-8E04-1DC57D86FAF8}" srcOrd="0" destOrd="1" presId="urn:microsoft.com/office/officeart/2005/8/layout/vList2"/>
    <dgm:cxn modelId="{CA160F48-4109-486D-88FF-4CFA245E3FBF}" type="presParOf" srcId="{F3E2516A-E3C8-4349-9A36-14C1CEF53F82}" destId="{A035BC63-C64A-45EA-B364-9E70285250C5}" srcOrd="0" destOrd="0" presId="urn:microsoft.com/office/officeart/2005/8/layout/vList2"/>
    <dgm:cxn modelId="{572285A5-5FBC-476C-9D4C-3E72EF8E540C}" type="presParOf" srcId="{F3E2516A-E3C8-4349-9A36-14C1CEF53F82}" destId="{486B35C4-F6E3-4DFF-8E04-1DC57D86FAF8}" srcOrd="1" destOrd="0" presId="urn:microsoft.com/office/officeart/2005/8/layout/vList2"/>
    <dgm:cxn modelId="{6D363C6C-F621-43C1-993B-1EFFEA3FBE48}" type="presParOf" srcId="{F3E2516A-E3C8-4349-9A36-14C1CEF53F82}" destId="{A9300105-06F9-4A38-9C36-4680AD546184}" srcOrd="2" destOrd="0" presId="urn:microsoft.com/office/officeart/2005/8/layout/vList2"/>
    <dgm:cxn modelId="{6EC8C95B-A275-41C3-BC5F-98F9D9D6A54A}" type="presParOf" srcId="{F3E2516A-E3C8-4349-9A36-14C1CEF53F82}" destId="{B9818F14-B6C6-44CF-B64E-BC48A78C1AA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999F4-AB93-478B-B1E3-0F1860CFDE2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0FF8907-E597-4C2B-973E-6D0D829BE0BE}">
      <dgm:prSet/>
      <dgm:spPr/>
      <dgm:t>
        <a:bodyPr/>
        <a:lstStyle/>
        <a:p>
          <a:pPr rtl="0"/>
          <a:r>
            <a:rPr lang="en-US" b="0">
              <a:latin typeface="Century Gothic" panose="020B0502020202020204"/>
            </a:rPr>
            <a:t>Full Stack Development</a:t>
          </a:r>
          <a:r>
            <a:rPr lang="en-US">
              <a:latin typeface="Century Gothic" panose="020B0502020202020204"/>
            </a:rPr>
            <a:t> Logics:</a:t>
          </a:r>
        </a:p>
      </dgm:t>
    </dgm:pt>
    <dgm:pt modelId="{ABC599C3-B8FF-424B-8BB1-D113073A1873}" type="parTrans" cxnId="{9971296B-1875-4A3D-AB7D-F459A10917A9}">
      <dgm:prSet/>
      <dgm:spPr/>
      <dgm:t>
        <a:bodyPr/>
        <a:lstStyle/>
        <a:p>
          <a:endParaRPr lang="en-US"/>
        </a:p>
      </dgm:t>
    </dgm:pt>
    <dgm:pt modelId="{27131AEC-A3E7-47A2-97C2-D690C33623A2}" type="sibTrans" cxnId="{9971296B-1875-4A3D-AB7D-F459A10917A9}">
      <dgm:prSet/>
      <dgm:spPr/>
      <dgm:t>
        <a:bodyPr/>
        <a:lstStyle/>
        <a:p>
          <a:endParaRPr lang="en-US"/>
        </a:p>
      </dgm:t>
    </dgm:pt>
    <dgm:pt modelId="{6FBD2C2E-0288-4AC9-9D27-F02464CA2792}">
      <dgm:prSet/>
      <dgm:spPr/>
      <dgm:t>
        <a:bodyPr/>
        <a:lstStyle/>
        <a:p>
          <a:pPr rtl="0"/>
          <a:r>
            <a:rPr lang="en-US" b="0" dirty="0">
              <a:latin typeface="Century Gothic" panose="020B0502020202020204"/>
            </a:rPr>
            <a:t>Major Steps In </a:t>
          </a:r>
          <a:r>
            <a:rPr lang="en-US" b="0">
              <a:latin typeface="Century Gothic" panose="020B0502020202020204"/>
            </a:rPr>
            <a:t>Designing</a:t>
          </a:r>
          <a:r>
            <a:rPr lang="en-US" dirty="0">
              <a:latin typeface="Century Gothic" panose="020B0502020202020204"/>
            </a:rPr>
            <a:t>:</a:t>
          </a:r>
          <a:endParaRPr lang="en-US" dirty="0"/>
        </a:p>
      </dgm:t>
    </dgm:pt>
    <dgm:pt modelId="{044D1DB3-2F52-4AB5-96ED-96D952E3F1DA}" type="parTrans" cxnId="{B884443E-6A2A-4935-ADE2-9717B05F691C}">
      <dgm:prSet/>
      <dgm:spPr/>
      <dgm:t>
        <a:bodyPr/>
        <a:lstStyle/>
        <a:p>
          <a:endParaRPr lang="en-US"/>
        </a:p>
      </dgm:t>
    </dgm:pt>
    <dgm:pt modelId="{8BD7F916-579D-4967-8EB2-B5B23955516A}" type="sibTrans" cxnId="{B884443E-6A2A-4935-ADE2-9717B05F691C}">
      <dgm:prSet/>
      <dgm:spPr/>
      <dgm:t>
        <a:bodyPr/>
        <a:lstStyle/>
        <a:p>
          <a:endParaRPr lang="en-US"/>
        </a:p>
      </dgm:t>
    </dgm:pt>
    <dgm:pt modelId="{8533D84F-3E07-496C-8671-259E0CA40FFB}">
      <dgm:prSet/>
      <dgm:spPr/>
      <dgm:t>
        <a:bodyPr/>
        <a:lstStyle/>
        <a:p>
          <a:pPr rtl="0"/>
          <a:r>
            <a:rPr lang="en-US" b="0" dirty="0">
              <a:latin typeface="Century Gothic" panose="020B0502020202020204"/>
            </a:rPr>
            <a:t>Design</a:t>
          </a:r>
          <a:r>
            <a:rPr lang="en-US" dirty="0">
              <a:latin typeface="Century Gothic" panose="020B0502020202020204"/>
            </a:rPr>
            <a:t> HTML pages for </a:t>
          </a:r>
          <a:r>
            <a:rPr lang="en-US" dirty="0" err="1">
              <a:latin typeface="Century Gothic" panose="020B0502020202020204"/>
            </a:rPr>
            <a:t>stati</a:t>
          </a:r>
          <a:r>
            <a:rPr lang="en-US">
              <a:latin typeface="Century Gothic" panose="020B0502020202020204"/>
            </a:rPr>
            <a:t>c view</a:t>
          </a:r>
          <a:endParaRPr lang="en-US"/>
        </a:p>
      </dgm:t>
    </dgm:pt>
    <dgm:pt modelId="{008D84FA-4365-4176-BAA3-592C3D79BE26}" type="parTrans" cxnId="{14123797-ACD8-4AA9-94EA-C900A8EA848C}">
      <dgm:prSet/>
      <dgm:spPr/>
      <dgm:t>
        <a:bodyPr/>
        <a:lstStyle/>
        <a:p>
          <a:endParaRPr lang="en-US"/>
        </a:p>
      </dgm:t>
    </dgm:pt>
    <dgm:pt modelId="{163AF1D7-1BC2-4AB2-93A0-C61189EB650C}" type="sibTrans" cxnId="{14123797-ACD8-4AA9-94EA-C900A8EA848C}">
      <dgm:prSet/>
      <dgm:spPr/>
      <dgm:t>
        <a:bodyPr/>
        <a:lstStyle/>
        <a:p>
          <a:endParaRPr lang="en-US"/>
        </a:p>
      </dgm:t>
    </dgm:pt>
    <dgm:pt modelId="{282FBB06-134A-45E3-8DC5-EBBB3694F255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HTML, CSS, JAVASCRIPT, DOM, NODE.JS, EJS, MONDGODB, EXPRESS, PASSPORT </a:t>
          </a:r>
          <a:r>
            <a:rPr lang="en-US" dirty="0" err="1">
              <a:latin typeface="Century Gothic" panose="020B0502020202020204"/>
            </a:rPr>
            <a:t>etc</a:t>
          </a:r>
          <a:endParaRPr lang="en-US" dirty="0">
            <a:latin typeface="Century Gothic" panose="020B0502020202020204"/>
          </a:endParaRPr>
        </a:p>
      </dgm:t>
    </dgm:pt>
    <dgm:pt modelId="{4D5E0FCA-F03D-4A25-82B5-EC9D913DA68D}" type="parTrans" cxnId="{B8852E10-5177-45A5-84A4-16E265A2EA86}">
      <dgm:prSet/>
      <dgm:spPr/>
    </dgm:pt>
    <dgm:pt modelId="{10AAECF9-4170-489B-BBF1-9A341DC030C0}" type="sibTrans" cxnId="{B8852E10-5177-45A5-84A4-16E265A2EA86}">
      <dgm:prSet/>
      <dgm:spPr/>
    </dgm:pt>
    <dgm:pt modelId="{6C5B19F2-5617-4D06-9DD8-3C5C07B8AAE4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Update CSS file throughout</a:t>
          </a:r>
        </a:p>
      </dgm:t>
    </dgm:pt>
    <dgm:pt modelId="{029B257B-4DF5-45B9-8B3E-3890F50359AE}" type="parTrans" cxnId="{1BF9B8D4-9BF3-460B-A32A-DCB4C4BE4BE2}">
      <dgm:prSet/>
      <dgm:spPr/>
    </dgm:pt>
    <dgm:pt modelId="{34526F5B-3E5F-4F12-81C9-377D982416F2}" type="sibTrans" cxnId="{1BF9B8D4-9BF3-460B-A32A-DCB4C4BE4BE2}">
      <dgm:prSet/>
      <dgm:spPr/>
    </dgm:pt>
    <dgm:pt modelId="{EEFCF5B4-908F-48CF-8BB4-85ACE19846F4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Convert HTML files into EJS files</a:t>
          </a:r>
        </a:p>
      </dgm:t>
    </dgm:pt>
    <dgm:pt modelId="{0CDF3CB3-3547-437E-A9DF-7834A38D04EB}" type="parTrans" cxnId="{1F440872-B0B5-44EA-9F4F-98D18EEC9853}">
      <dgm:prSet/>
      <dgm:spPr/>
    </dgm:pt>
    <dgm:pt modelId="{44DB1607-BA01-4CA3-982B-DEE874D490FE}" type="sibTrans" cxnId="{1F440872-B0B5-44EA-9F4F-98D18EEC9853}">
      <dgm:prSet/>
      <dgm:spPr/>
    </dgm:pt>
    <dgm:pt modelId="{C12C0A6B-E5FD-4973-B557-7A867F2650C9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Utilize all functional logics to make each page interactive and implement databases for each model (schema)</a:t>
          </a:r>
        </a:p>
      </dgm:t>
    </dgm:pt>
    <dgm:pt modelId="{65D7B3A1-3A34-4BB2-BCDF-3672BDC3C3B5}" type="parTrans" cxnId="{9186F670-229A-482D-BDC8-3FAC8F315A21}">
      <dgm:prSet/>
      <dgm:spPr/>
    </dgm:pt>
    <dgm:pt modelId="{B2B35737-C777-4BB9-8CC8-5EE9649A3BEA}" type="sibTrans" cxnId="{9186F670-229A-482D-BDC8-3FAC8F315A21}">
      <dgm:prSet/>
      <dgm:spPr/>
    </dgm:pt>
    <dgm:pt modelId="{F3E2516A-E3C8-4349-9A36-14C1CEF53F82}" type="pres">
      <dgm:prSet presAssocID="{A32999F4-AB93-478B-B1E3-0F1860CFDE23}" presName="linear" presStyleCnt="0">
        <dgm:presLayoutVars>
          <dgm:animLvl val="lvl"/>
          <dgm:resizeHandles val="exact"/>
        </dgm:presLayoutVars>
      </dgm:prSet>
      <dgm:spPr/>
    </dgm:pt>
    <dgm:pt modelId="{A035BC63-C64A-45EA-B364-9E70285250C5}" type="pres">
      <dgm:prSet presAssocID="{E0FF8907-E597-4C2B-973E-6D0D829BE0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55C07BB-15E7-4419-BC28-CBA47B33B66D}" type="pres">
      <dgm:prSet presAssocID="{E0FF8907-E597-4C2B-973E-6D0D829BE0BE}" presName="childText" presStyleLbl="revTx" presStyleIdx="0" presStyleCnt="2">
        <dgm:presLayoutVars>
          <dgm:bulletEnabled val="1"/>
        </dgm:presLayoutVars>
      </dgm:prSet>
      <dgm:spPr/>
    </dgm:pt>
    <dgm:pt modelId="{A9300105-06F9-4A38-9C36-4680AD546184}" type="pres">
      <dgm:prSet presAssocID="{6FBD2C2E-0288-4AC9-9D27-F02464CA279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9818F14-B6C6-44CF-B64E-BC48A78C1AA8}" type="pres">
      <dgm:prSet presAssocID="{6FBD2C2E-0288-4AC9-9D27-F02464CA279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8852E10-5177-45A5-84A4-16E265A2EA86}" srcId="{E0FF8907-E597-4C2B-973E-6D0D829BE0BE}" destId="{282FBB06-134A-45E3-8DC5-EBBB3694F255}" srcOrd="0" destOrd="0" parTransId="{4D5E0FCA-F03D-4A25-82B5-EC9D913DA68D}" sibTransId="{10AAECF9-4170-489B-BBF1-9A341DC030C0}"/>
    <dgm:cxn modelId="{8B72721B-06C0-4FA1-8B9F-E36A692E7FC5}" type="presOf" srcId="{6FBD2C2E-0288-4AC9-9D27-F02464CA2792}" destId="{A9300105-06F9-4A38-9C36-4680AD546184}" srcOrd="0" destOrd="0" presId="urn:microsoft.com/office/officeart/2005/8/layout/vList2"/>
    <dgm:cxn modelId="{5AD12A23-EFD4-4217-AD3E-72A98D018B6B}" type="presOf" srcId="{A32999F4-AB93-478B-B1E3-0F1860CFDE23}" destId="{F3E2516A-E3C8-4349-9A36-14C1CEF53F82}" srcOrd="0" destOrd="0" presId="urn:microsoft.com/office/officeart/2005/8/layout/vList2"/>
    <dgm:cxn modelId="{ED2E362E-A0D0-4BDD-A126-CA2C6ABB4BE5}" type="presOf" srcId="{8533D84F-3E07-496C-8671-259E0CA40FFB}" destId="{B9818F14-B6C6-44CF-B64E-BC48A78C1AA8}" srcOrd="0" destOrd="0" presId="urn:microsoft.com/office/officeart/2005/8/layout/vList2"/>
    <dgm:cxn modelId="{B884443E-6A2A-4935-ADE2-9717B05F691C}" srcId="{A32999F4-AB93-478B-B1E3-0F1860CFDE23}" destId="{6FBD2C2E-0288-4AC9-9D27-F02464CA2792}" srcOrd="1" destOrd="0" parTransId="{044D1DB3-2F52-4AB5-96ED-96D952E3F1DA}" sibTransId="{8BD7F916-579D-4967-8EB2-B5B23955516A}"/>
    <dgm:cxn modelId="{9971296B-1875-4A3D-AB7D-F459A10917A9}" srcId="{A32999F4-AB93-478B-B1E3-0F1860CFDE23}" destId="{E0FF8907-E597-4C2B-973E-6D0D829BE0BE}" srcOrd="0" destOrd="0" parTransId="{ABC599C3-B8FF-424B-8BB1-D113073A1873}" sibTransId="{27131AEC-A3E7-47A2-97C2-D690C33623A2}"/>
    <dgm:cxn modelId="{EB9E9D70-81B4-4FE8-9F84-E91256BD8173}" type="presOf" srcId="{282FBB06-134A-45E3-8DC5-EBBB3694F255}" destId="{255C07BB-15E7-4419-BC28-CBA47B33B66D}" srcOrd="0" destOrd="0" presId="urn:microsoft.com/office/officeart/2005/8/layout/vList2"/>
    <dgm:cxn modelId="{9186F670-229A-482D-BDC8-3FAC8F315A21}" srcId="{6FBD2C2E-0288-4AC9-9D27-F02464CA2792}" destId="{C12C0A6B-E5FD-4973-B557-7A867F2650C9}" srcOrd="3" destOrd="0" parTransId="{65D7B3A1-3A34-4BB2-BCDF-3672BDC3C3B5}" sibTransId="{B2B35737-C777-4BB9-8CC8-5EE9649A3BEA}"/>
    <dgm:cxn modelId="{1F440872-B0B5-44EA-9F4F-98D18EEC9853}" srcId="{6FBD2C2E-0288-4AC9-9D27-F02464CA2792}" destId="{EEFCF5B4-908F-48CF-8BB4-85ACE19846F4}" srcOrd="2" destOrd="0" parTransId="{0CDF3CB3-3547-437E-A9DF-7834A38D04EB}" sibTransId="{44DB1607-BA01-4CA3-982B-DEE874D490FE}"/>
    <dgm:cxn modelId="{F949E386-55C7-454D-A244-6A3EA0A0CDDE}" type="presOf" srcId="{EEFCF5B4-908F-48CF-8BB4-85ACE19846F4}" destId="{B9818F14-B6C6-44CF-B64E-BC48A78C1AA8}" srcOrd="0" destOrd="2" presId="urn:microsoft.com/office/officeart/2005/8/layout/vList2"/>
    <dgm:cxn modelId="{27A0D58E-57A2-4180-9526-E6CE18157C83}" type="presOf" srcId="{E0FF8907-E597-4C2B-973E-6D0D829BE0BE}" destId="{A035BC63-C64A-45EA-B364-9E70285250C5}" srcOrd="0" destOrd="0" presId="urn:microsoft.com/office/officeart/2005/8/layout/vList2"/>
    <dgm:cxn modelId="{14123797-ACD8-4AA9-94EA-C900A8EA848C}" srcId="{6FBD2C2E-0288-4AC9-9D27-F02464CA2792}" destId="{8533D84F-3E07-496C-8671-259E0CA40FFB}" srcOrd="0" destOrd="0" parTransId="{008D84FA-4365-4176-BAA3-592C3D79BE26}" sibTransId="{163AF1D7-1BC2-4AB2-93A0-C61189EB650C}"/>
    <dgm:cxn modelId="{088408BA-E8F8-421A-A577-3249CDD4A1CB}" type="presOf" srcId="{6C5B19F2-5617-4D06-9DD8-3C5C07B8AAE4}" destId="{B9818F14-B6C6-44CF-B64E-BC48A78C1AA8}" srcOrd="0" destOrd="1" presId="urn:microsoft.com/office/officeart/2005/8/layout/vList2"/>
    <dgm:cxn modelId="{1BF9B8D4-9BF3-460B-A32A-DCB4C4BE4BE2}" srcId="{6FBD2C2E-0288-4AC9-9D27-F02464CA2792}" destId="{6C5B19F2-5617-4D06-9DD8-3C5C07B8AAE4}" srcOrd="1" destOrd="0" parTransId="{029B257B-4DF5-45B9-8B3E-3890F50359AE}" sibTransId="{34526F5B-3E5F-4F12-81C9-377D982416F2}"/>
    <dgm:cxn modelId="{34404EDF-DF3B-4861-82D1-6CBDDE68A5CD}" type="presOf" srcId="{C12C0A6B-E5FD-4973-B557-7A867F2650C9}" destId="{B9818F14-B6C6-44CF-B64E-BC48A78C1AA8}" srcOrd="0" destOrd="3" presId="urn:microsoft.com/office/officeart/2005/8/layout/vList2"/>
    <dgm:cxn modelId="{F2747D8F-CEE1-4E84-B6EA-DEC7353B6FB2}" type="presParOf" srcId="{F3E2516A-E3C8-4349-9A36-14C1CEF53F82}" destId="{A035BC63-C64A-45EA-B364-9E70285250C5}" srcOrd="0" destOrd="0" presId="urn:microsoft.com/office/officeart/2005/8/layout/vList2"/>
    <dgm:cxn modelId="{94DCE273-C4C4-4271-8F33-73F14593295B}" type="presParOf" srcId="{F3E2516A-E3C8-4349-9A36-14C1CEF53F82}" destId="{255C07BB-15E7-4419-BC28-CBA47B33B66D}" srcOrd="1" destOrd="0" presId="urn:microsoft.com/office/officeart/2005/8/layout/vList2"/>
    <dgm:cxn modelId="{0B1DEA9F-62F2-4830-ACE4-B3FCF4DA6FBB}" type="presParOf" srcId="{F3E2516A-E3C8-4349-9A36-14C1CEF53F82}" destId="{A9300105-06F9-4A38-9C36-4680AD546184}" srcOrd="2" destOrd="0" presId="urn:microsoft.com/office/officeart/2005/8/layout/vList2"/>
    <dgm:cxn modelId="{CF1A4761-F780-4DBB-85F3-2E68EFB9A885}" type="presParOf" srcId="{F3E2516A-E3C8-4349-9A36-14C1CEF53F82}" destId="{B9818F14-B6C6-44CF-B64E-BC48A78C1AA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5BC63-C64A-45EA-B364-9E70285250C5}">
      <dsp:nvSpPr>
        <dsp:cNvPr id="0" name=""/>
        <dsp:cNvSpPr/>
      </dsp:nvSpPr>
      <dsp:spPr>
        <a:xfrm>
          <a:off x="0" y="40253"/>
          <a:ext cx="6391275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We implemented an MVC (Model-View-Controller) architecture:</a:t>
          </a:r>
          <a:endParaRPr lang="en-US" sz="2700" kern="1200"/>
        </a:p>
      </dsp:txBody>
      <dsp:txXfrm>
        <a:off x="52431" y="92684"/>
        <a:ext cx="6286413" cy="969198"/>
      </dsp:txXfrm>
    </dsp:sp>
    <dsp:sp modelId="{486B35C4-F6E3-4DFF-8E04-1DC57D86FAF8}">
      <dsp:nvSpPr>
        <dsp:cNvPr id="0" name=""/>
        <dsp:cNvSpPr/>
      </dsp:nvSpPr>
      <dsp:spPr>
        <a:xfrm>
          <a:off x="0" y="1114313"/>
          <a:ext cx="6391275" cy="1956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/>
            <a:t>Model: Handles data</a:t>
          </a:r>
          <a:r>
            <a:rPr lang="en-US" sz="2100" kern="1200">
              <a:latin typeface="Century Gothic" panose="020B0502020202020204"/>
            </a:rPr>
            <a:t> in the form of databases or schemas</a:t>
          </a:r>
          <a:endParaRPr lang="en-US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 dirty="0"/>
            <a:t>View: Displays the interface to users </a:t>
          </a:r>
          <a:r>
            <a:rPr lang="en-US" sz="2100" kern="1200" dirty="0">
              <a:latin typeface="Century Gothic" panose="020B0502020202020204"/>
            </a:rPr>
            <a:t>as different pages or popups</a:t>
          </a:r>
          <a:endParaRPr lang="en-US" sz="2100" kern="1200" dirty="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 dirty="0"/>
            <a:t>Controller: Manages logic and interactions </a:t>
          </a:r>
          <a:r>
            <a:rPr lang="en-US" sz="2100" kern="1200" dirty="0">
              <a:latin typeface="Century Gothic" panose="020B0502020202020204"/>
            </a:rPr>
            <a:t>by providing control or functionality</a:t>
          </a:r>
          <a:endParaRPr lang="en-US" sz="2100" kern="1200" dirty="0"/>
        </a:p>
      </dsp:txBody>
      <dsp:txXfrm>
        <a:off x="0" y="1114313"/>
        <a:ext cx="6391275" cy="1956150"/>
      </dsp:txXfrm>
    </dsp:sp>
    <dsp:sp modelId="{A9300105-06F9-4A38-9C36-4680AD546184}">
      <dsp:nvSpPr>
        <dsp:cNvPr id="0" name=""/>
        <dsp:cNvSpPr/>
      </dsp:nvSpPr>
      <dsp:spPr>
        <a:xfrm>
          <a:off x="0" y="3070463"/>
          <a:ext cx="6391275" cy="107406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This </a:t>
          </a:r>
          <a:r>
            <a:rPr lang="en-US" sz="2700" b="0" kern="1200">
              <a:latin typeface="Century Gothic" panose="020B0502020202020204"/>
            </a:rPr>
            <a:t>individuality of each aspect of architecture</a:t>
          </a:r>
          <a:r>
            <a:rPr lang="en-US" sz="2700" b="0" kern="1200" dirty="0">
              <a:latin typeface="Century Gothic" panose="020B0502020202020204"/>
            </a:rPr>
            <a:t> </a:t>
          </a:r>
          <a:r>
            <a:rPr lang="en-US" sz="2700" b="0" kern="1200" dirty="0"/>
            <a:t>allowed us to:</a:t>
          </a:r>
          <a:endParaRPr lang="en-US" sz="2700" kern="1200" dirty="0"/>
        </a:p>
      </dsp:txBody>
      <dsp:txXfrm>
        <a:off x="52431" y="3122894"/>
        <a:ext cx="6286413" cy="969198"/>
      </dsp:txXfrm>
    </dsp:sp>
    <dsp:sp modelId="{B9818F14-B6C6-44CF-B64E-BC48A78C1AA8}">
      <dsp:nvSpPr>
        <dsp:cNvPr id="0" name=""/>
        <dsp:cNvSpPr/>
      </dsp:nvSpPr>
      <dsp:spPr>
        <a:xfrm>
          <a:off x="0" y="4144523"/>
          <a:ext cx="6391275" cy="106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/>
            <a:t>Maintain clean code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/>
            <a:t>Improve scalability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kern="1200"/>
            <a:t>Simplify debugging</a:t>
          </a:r>
          <a:endParaRPr lang="en-US" sz="2100" kern="1200"/>
        </a:p>
      </dsp:txBody>
      <dsp:txXfrm>
        <a:off x="0" y="4144523"/>
        <a:ext cx="6391275" cy="1061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5BC63-C64A-45EA-B364-9E70285250C5}">
      <dsp:nvSpPr>
        <dsp:cNvPr id="0" name=""/>
        <dsp:cNvSpPr/>
      </dsp:nvSpPr>
      <dsp:spPr>
        <a:xfrm>
          <a:off x="0" y="179303"/>
          <a:ext cx="6391275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>
              <a:latin typeface="Century Gothic" panose="020B0502020202020204"/>
            </a:rPr>
            <a:t>Full Stack Development</a:t>
          </a:r>
          <a:r>
            <a:rPr lang="en-US" sz="3100" kern="1200">
              <a:latin typeface="Century Gothic" panose="020B0502020202020204"/>
            </a:rPr>
            <a:t> Logics:</a:t>
          </a:r>
        </a:p>
      </dsp:txBody>
      <dsp:txXfrm>
        <a:off x="36296" y="215599"/>
        <a:ext cx="6318683" cy="670943"/>
      </dsp:txXfrm>
    </dsp:sp>
    <dsp:sp modelId="{255C07BB-15E7-4419-BC28-CBA47B33B66D}">
      <dsp:nvSpPr>
        <dsp:cNvPr id="0" name=""/>
        <dsp:cNvSpPr/>
      </dsp:nvSpPr>
      <dsp:spPr>
        <a:xfrm>
          <a:off x="0" y="922838"/>
          <a:ext cx="6391275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entury Gothic" panose="020B0502020202020204"/>
            </a:rPr>
            <a:t>HTML, CSS, JAVASCRIPT, DOM, NODE.JS, EJS, MONDGODB, EXPRESS, PASSPORT </a:t>
          </a:r>
          <a:r>
            <a:rPr lang="en-US" sz="2400" kern="1200" dirty="0" err="1">
              <a:latin typeface="Century Gothic" panose="020B0502020202020204"/>
            </a:rPr>
            <a:t>etc</a:t>
          </a:r>
          <a:endParaRPr lang="en-US" sz="2400" kern="1200" dirty="0">
            <a:latin typeface="Century Gothic" panose="020B0502020202020204"/>
          </a:endParaRPr>
        </a:p>
      </dsp:txBody>
      <dsp:txXfrm>
        <a:off x="0" y="922838"/>
        <a:ext cx="6391275" cy="1090890"/>
      </dsp:txXfrm>
    </dsp:sp>
    <dsp:sp modelId="{A9300105-06F9-4A38-9C36-4680AD546184}">
      <dsp:nvSpPr>
        <dsp:cNvPr id="0" name=""/>
        <dsp:cNvSpPr/>
      </dsp:nvSpPr>
      <dsp:spPr>
        <a:xfrm>
          <a:off x="0" y="2013728"/>
          <a:ext cx="6391275" cy="743535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>
              <a:latin typeface="Century Gothic" panose="020B0502020202020204"/>
            </a:rPr>
            <a:t>Major Steps In </a:t>
          </a:r>
          <a:r>
            <a:rPr lang="en-US" sz="3100" b="0" kern="1200">
              <a:latin typeface="Century Gothic" panose="020B0502020202020204"/>
            </a:rPr>
            <a:t>Designing</a:t>
          </a:r>
          <a:r>
            <a:rPr lang="en-US" sz="3100" kern="1200" dirty="0">
              <a:latin typeface="Century Gothic" panose="020B0502020202020204"/>
            </a:rPr>
            <a:t>:</a:t>
          </a:r>
          <a:endParaRPr lang="en-US" sz="3100" kern="1200" dirty="0"/>
        </a:p>
      </dsp:txBody>
      <dsp:txXfrm>
        <a:off x="36296" y="2050024"/>
        <a:ext cx="6318683" cy="670943"/>
      </dsp:txXfrm>
    </dsp:sp>
    <dsp:sp modelId="{B9818F14-B6C6-44CF-B64E-BC48A78C1AA8}">
      <dsp:nvSpPr>
        <dsp:cNvPr id="0" name=""/>
        <dsp:cNvSpPr/>
      </dsp:nvSpPr>
      <dsp:spPr>
        <a:xfrm>
          <a:off x="0" y="2757263"/>
          <a:ext cx="6391275" cy="2310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kern="1200" dirty="0">
              <a:latin typeface="Century Gothic" panose="020B0502020202020204"/>
            </a:rPr>
            <a:t>Design</a:t>
          </a:r>
          <a:r>
            <a:rPr lang="en-US" sz="2400" kern="1200" dirty="0">
              <a:latin typeface="Century Gothic" panose="020B0502020202020204"/>
            </a:rPr>
            <a:t> HTML pages for </a:t>
          </a:r>
          <a:r>
            <a:rPr lang="en-US" sz="2400" kern="1200" dirty="0" err="1">
              <a:latin typeface="Century Gothic" panose="020B0502020202020204"/>
            </a:rPr>
            <a:t>stati</a:t>
          </a:r>
          <a:r>
            <a:rPr lang="en-US" sz="2400" kern="1200">
              <a:latin typeface="Century Gothic" panose="020B0502020202020204"/>
            </a:rPr>
            <a:t>c view</a:t>
          </a:r>
          <a:endParaRPr lang="en-US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entury Gothic" panose="020B0502020202020204"/>
            </a:rPr>
            <a:t>Update CSS file throughout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entury Gothic" panose="020B0502020202020204"/>
            </a:rPr>
            <a:t>Convert HTML files into EJS files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entury Gothic" panose="020B0502020202020204"/>
            </a:rPr>
            <a:t>Utilize all functional logics to make each page interactive and implement databases for each model (schema)</a:t>
          </a:r>
        </a:p>
      </dsp:txBody>
      <dsp:txXfrm>
        <a:off x="0" y="2757263"/>
        <a:ext cx="6391275" cy="2310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48AAC-3BED-4B86-8D3F-4F76B9C205B9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D085F-2061-4E40-97F2-9BD7B0FA12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479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06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37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736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375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970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2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747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993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63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79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717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6435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68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173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750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8510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83736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196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4952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516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174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796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944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7100" y="185801"/>
            <a:ext cx="5257800" cy="542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07" y="1457960"/>
            <a:ext cx="10815320" cy="430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4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users/PrescillaGatdet/projects/4/views/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7953" y="4797362"/>
            <a:ext cx="1842027" cy="18561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525" y="295275"/>
            <a:ext cx="1742948" cy="179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0425" y="1828673"/>
            <a:ext cx="5386451" cy="320522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81350" y="1610359"/>
            <a:ext cx="5829300" cy="3647440"/>
          </a:xfrm>
          <a:custGeom>
            <a:avLst/>
            <a:gdLst/>
            <a:ahLst/>
            <a:cxnLst/>
            <a:rect l="l" t="t" r="r" b="b"/>
            <a:pathLst>
              <a:path w="5829300" h="3647440">
                <a:moveTo>
                  <a:pt x="5646420" y="182880"/>
                </a:moveTo>
                <a:lnTo>
                  <a:pt x="5600700" y="182880"/>
                </a:lnTo>
                <a:lnTo>
                  <a:pt x="5600700" y="228600"/>
                </a:lnTo>
                <a:lnTo>
                  <a:pt x="5600700" y="3418840"/>
                </a:lnTo>
                <a:lnTo>
                  <a:pt x="228600" y="3418840"/>
                </a:lnTo>
                <a:lnTo>
                  <a:pt x="228600" y="228600"/>
                </a:lnTo>
                <a:lnTo>
                  <a:pt x="5600700" y="228600"/>
                </a:lnTo>
                <a:lnTo>
                  <a:pt x="5600700" y="182880"/>
                </a:lnTo>
                <a:lnTo>
                  <a:pt x="182880" y="182880"/>
                </a:lnTo>
                <a:lnTo>
                  <a:pt x="182880" y="228600"/>
                </a:lnTo>
                <a:lnTo>
                  <a:pt x="182880" y="3418840"/>
                </a:lnTo>
                <a:lnTo>
                  <a:pt x="182880" y="3464560"/>
                </a:lnTo>
                <a:lnTo>
                  <a:pt x="5646420" y="3464560"/>
                </a:lnTo>
                <a:lnTo>
                  <a:pt x="5646420" y="3418840"/>
                </a:lnTo>
                <a:lnTo>
                  <a:pt x="5646420" y="228600"/>
                </a:lnTo>
                <a:lnTo>
                  <a:pt x="5646420" y="227965"/>
                </a:lnTo>
                <a:lnTo>
                  <a:pt x="5646420" y="182880"/>
                </a:lnTo>
                <a:close/>
              </a:path>
              <a:path w="5829300" h="3647440">
                <a:moveTo>
                  <a:pt x="5829300" y="0"/>
                </a:moveTo>
                <a:lnTo>
                  <a:pt x="5692140" y="0"/>
                </a:lnTo>
                <a:lnTo>
                  <a:pt x="5692140" y="137160"/>
                </a:lnTo>
                <a:lnTo>
                  <a:pt x="5692140" y="3510280"/>
                </a:lnTo>
                <a:lnTo>
                  <a:pt x="137160" y="3510280"/>
                </a:lnTo>
                <a:lnTo>
                  <a:pt x="137160" y="137160"/>
                </a:lnTo>
                <a:lnTo>
                  <a:pt x="5692140" y="137160"/>
                </a:lnTo>
                <a:lnTo>
                  <a:pt x="5692140" y="0"/>
                </a:lnTo>
                <a:lnTo>
                  <a:pt x="0" y="0"/>
                </a:lnTo>
                <a:lnTo>
                  <a:pt x="0" y="137160"/>
                </a:lnTo>
                <a:lnTo>
                  <a:pt x="0" y="3510280"/>
                </a:lnTo>
                <a:lnTo>
                  <a:pt x="0" y="3647440"/>
                </a:lnTo>
                <a:lnTo>
                  <a:pt x="5829300" y="3647440"/>
                </a:lnTo>
                <a:lnTo>
                  <a:pt x="5829300" y="3510292"/>
                </a:lnTo>
                <a:lnTo>
                  <a:pt x="5829300" y="137160"/>
                </a:lnTo>
                <a:lnTo>
                  <a:pt x="5829300" y="136525"/>
                </a:lnTo>
                <a:lnTo>
                  <a:pt x="5829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91400" y="981074"/>
            <a:ext cx="4674870" cy="5151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750" b="1" i="1" dirty="0">
                <a:latin typeface="Palatino Linotype"/>
                <a:cs typeface="Palatino Linotype"/>
              </a:rPr>
              <a:t>ENSE</a:t>
            </a:r>
            <a:r>
              <a:rPr sz="2750" b="1" i="1" spc="95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281</a:t>
            </a:r>
            <a:r>
              <a:rPr sz="2750" b="1" i="1" spc="110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GROUP</a:t>
            </a:r>
            <a:r>
              <a:rPr sz="2750" b="1" i="1" spc="165" dirty="0">
                <a:latin typeface="Palatino Linotype"/>
                <a:cs typeface="Palatino Linotype"/>
              </a:rPr>
              <a:t> </a:t>
            </a:r>
            <a:r>
              <a:rPr sz="2750" b="1" i="1" spc="-10" dirty="0">
                <a:latin typeface="Palatino Linotype"/>
                <a:cs typeface="Palatino Linotype"/>
              </a:rPr>
              <a:t>PROJECT</a:t>
            </a:r>
            <a:endParaRPr sz="2750">
              <a:latin typeface="Palatino Linotype"/>
              <a:cs typeface="Palatino Linotype"/>
            </a:endParaRPr>
          </a:p>
          <a:p>
            <a:pPr marL="147320" marR="125730" indent="-5080" algn="ctr">
              <a:lnSpc>
                <a:spcPct val="102400"/>
              </a:lnSpc>
            </a:pPr>
            <a:r>
              <a:rPr sz="2750" b="1" i="1" dirty="0">
                <a:latin typeface="Palatino Linotype"/>
                <a:cs typeface="Palatino Linotype"/>
              </a:rPr>
              <a:t>Project</a:t>
            </a:r>
            <a:r>
              <a:rPr sz="2750" b="1" i="1" spc="125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Description:</a:t>
            </a:r>
            <a:r>
              <a:rPr sz="2750" b="1" i="1" spc="160" dirty="0">
                <a:latin typeface="Palatino Linotype"/>
                <a:cs typeface="Palatino Linotype"/>
              </a:rPr>
              <a:t> </a:t>
            </a:r>
            <a:r>
              <a:rPr sz="2750" b="1" i="1" spc="-10" dirty="0">
                <a:latin typeface="Palatino Linotype"/>
                <a:cs typeface="Palatino Linotype"/>
              </a:rPr>
              <a:t>Design </a:t>
            </a:r>
            <a:r>
              <a:rPr sz="2750" b="1" i="1" dirty="0">
                <a:latin typeface="Palatino Linotype"/>
                <a:cs typeface="Palatino Linotype"/>
              </a:rPr>
              <a:t>&amp;</a:t>
            </a:r>
            <a:r>
              <a:rPr sz="2750" b="1" i="1" spc="150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Develop</a:t>
            </a:r>
            <a:r>
              <a:rPr sz="2750" b="1" i="1" spc="85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A</a:t>
            </a:r>
            <a:r>
              <a:rPr sz="2750" b="1" i="1" spc="75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Small</a:t>
            </a:r>
            <a:r>
              <a:rPr sz="2750" b="1" i="1" spc="30" dirty="0">
                <a:latin typeface="Palatino Linotype"/>
                <a:cs typeface="Palatino Linotype"/>
              </a:rPr>
              <a:t> </a:t>
            </a:r>
            <a:r>
              <a:rPr sz="2750" b="1" i="1" spc="-25" dirty="0">
                <a:latin typeface="Palatino Linotype"/>
                <a:cs typeface="Palatino Linotype"/>
              </a:rPr>
              <a:t>To </a:t>
            </a:r>
            <a:r>
              <a:rPr sz="2750" b="1" i="1" dirty="0">
                <a:latin typeface="Palatino Linotype"/>
                <a:cs typeface="Palatino Linotype"/>
              </a:rPr>
              <a:t>Medium</a:t>
            </a:r>
            <a:r>
              <a:rPr sz="2750" b="1" i="1" spc="150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Scaled,</a:t>
            </a:r>
            <a:r>
              <a:rPr sz="2750" b="1" i="1" spc="215" dirty="0">
                <a:latin typeface="Palatino Linotype"/>
                <a:cs typeface="Palatino Linotype"/>
              </a:rPr>
              <a:t> </a:t>
            </a:r>
            <a:r>
              <a:rPr sz="2750" b="1" i="1" dirty="0">
                <a:latin typeface="Palatino Linotype"/>
                <a:cs typeface="Palatino Linotype"/>
              </a:rPr>
              <a:t>Web-</a:t>
            </a:r>
            <a:r>
              <a:rPr sz="2750" b="1" i="1" spc="-10" dirty="0">
                <a:latin typeface="Palatino Linotype"/>
                <a:cs typeface="Palatino Linotype"/>
              </a:rPr>
              <a:t>Based </a:t>
            </a:r>
            <a:r>
              <a:rPr sz="2750" b="1" i="1" dirty="0">
                <a:latin typeface="Palatino Linotype"/>
                <a:cs typeface="Palatino Linotype"/>
              </a:rPr>
              <a:t>Software</a:t>
            </a:r>
            <a:r>
              <a:rPr sz="2750" b="1" i="1" spc="155" dirty="0">
                <a:latin typeface="Palatino Linotype"/>
                <a:cs typeface="Palatino Linotype"/>
              </a:rPr>
              <a:t> </a:t>
            </a:r>
            <a:r>
              <a:rPr sz="2750" b="1" i="1" spc="-10" dirty="0">
                <a:latin typeface="Palatino Linotype"/>
                <a:cs typeface="Palatino Linotype"/>
              </a:rPr>
              <a:t>Application</a:t>
            </a:r>
            <a:endParaRPr sz="2750">
              <a:latin typeface="Palatino Linotype"/>
              <a:cs typeface="Palatino Linotype"/>
            </a:endParaRPr>
          </a:p>
          <a:p>
            <a:pPr marL="6350" algn="ctr">
              <a:lnSpc>
                <a:spcPct val="100000"/>
              </a:lnSpc>
              <a:spcBef>
                <a:spcPts val="3379"/>
              </a:spcBef>
            </a:pPr>
            <a:r>
              <a:rPr sz="275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WINTER</a:t>
            </a:r>
            <a:r>
              <a:rPr sz="2750" b="1" i="1" u="sng" spc="9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75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2026</a:t>
            </a:r>
            <a:r>
              <a:rPr sz="2750" b="1" i="1" u="sng" spc="1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75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-</a:t>
            </a:r>
            <a:r>
              <a:rPr sz="2750" b="1" i="1" u="sng" spc="1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75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GROUP</a:t>
            </a:r>
            <a:r>
              <a:rPr sz="2750" b="1" i="1" u="sng" spc="1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750" b="1" i="1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E</a:t>
            </a:r>
            <a:endParaRPr sz="2750">
              <a:latin typeface="Palatino Linotype"/>
              <a:cs typeface="Palatino Linotype"/>
            </a:endParaRPr>
          </a:p>
          <a:p>
            <a:pPr marL="1263650">
              <a:lnSpc>
                <a:spcPct val="100000"/>
              </a:lnSpc>
              <a:spcBef>
                <a:spcPts val="3460"/>
              </a:spcBef>
              <a:tabLst>
                <a:tab pos="1549400" algn="l"/>
              </a:tabLst>
            </a:pPr>
            <a:r>
              <a:rPr sz="2750" spc="-50" dirty="0">
                <a:latin typeface="Calibri"/>
                <a:cs typeface="Calibri"/>
              </a:rPr>
              <a:t>-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i="1" dirty="0">
                <a:latin typeface="Palatino Linotype"/>
                <a:cs typeface="Palatino Linotype"/>
              </a:rPr>
              <a:t>Ali</a:t>
            </a:r>
            <a:r>
              <a:rPr sz="2750" i="1" spc="60" dirty="0">
                <a:latin typeface="Palatino Linotype"/>
                <a:cs typeface="Palatino Linotype"/>
              </a:rPr>
              <a:t> </a:t>
            </a:r>
            <a:r>
              <a:rPr sz="2750" i="1" spc="-10" dirty="0">
                <a:latin typeface="Palatino Linotype"/>
                <a:cs typeface="Palatino Linotype"/>
              </a:rPr>
              <a:t>Abdullah</a:t>
            </a:r>
            <a:endParaRPr sz="2750">
              <a:latin typeface="Palatino Linotype"/>
              <a:cs typeface="Palatino Linotype"/>
            </a:endParaRPr>
          </a:p>
          <a:p>
            <a:pPr marL="1036955">
              <a:lnSpc>
                <a:spcPct val="100000"/>
              </a:lnSpc>
              <a:spcBef>
                <a:spcPts val="80"/>
              </a:spcBef>
              <a:tabLst>
                <a:tab pos="1322705" algn="l"/>
              </a:tabLst>
            </a:pPr>
            <a:r>
              <a:rPr sz="2750" spc="-50" dirty="0">
                <a:latin typeface="Calibri"/>
                <a:cs typeface="Calibri"/>
              </a:rPr>
              <a:t>-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i="1" dirty="0">
                <a:latin typeface="Palatino Linotype"/>
                <a:cs typeface="Palatino Linotype"/>
              </a:rPr>
              <a:t>Nyabijek</a:t>
            </a:r>
            <a:r>
              <a:rPr sz="2750" i="1" spc="110" dirty="0">
                <a:latin typeface="Palatino Linotype"/>
                <a:cs typeface="Palatino Linotype"/>
              </a:rPr>
              <a:t> </a:t>
            </a:r>
            <a:r>
              <a:rPr sz="2750" i="1" spc="-10" dirty="0">
                <a:latin typeface="Palatino Linotype"/>
                <a:cs typeface="Palatino Linotype"/>
              </a:rPr>
              <a:t>Gatdet</a:t>
            </a:r>
            <a:endParaRPr sz="2750">
              <a:latin typeface="Palatino Linotype"/>
              <a:cs typeface="Palatino Linotype"/>
            </a:endParaRPr>
          </a:p>
          <a:p>
            <a:pPr marL="674370">
              <a:lnSpc>
                <a:spcPct val="100000"/>
              </a:lnSpc>
              <a:spcBef>
                <a:spcPts val="5"/>
              </a:spcBef>
              <a:tabLst>
                <a:tab pos="960755" algn="l"/>
              </a:tabLst>
            </a:pPr>
            <a:r>
              <a:rPr sz="2750" spc="-50" dirty="0">
                <a:latin typeface="Calibri"/>
                <a:cs typeface="Calibri"/>
              </a:rPr>
              <a:t>-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i="1" dirty="0">
                <a:latin typeface="Palatino Linotype"/>
                <a:cs typeface="Palatino Linotype"/>
              </a:rPr>
              <a:t>Chiemego</a:t>
            </a:r>
            <a:r>
              <a:rPr sz="2750" i="1" spc="125" dirty="0">
                <a:latin typeface="Palatino Linotype"/>
                <a:cs typeface="Palatino Linotype"/>
              </a:rPr>
              <a:t> </a:t>
            </a:r>
            <a:r>
              <a:rPr sz="2750" i="1" spc="-10" dirty="0">
                <a:latin typeface="Palatino Linotype"/>
                <a:cs typeface="Palatino Linotype"/>
              </a:rPr>
              <a:t>Emmanuel</a:t>
            </a:r>
            <a:endParaRPr sz="2750">
              <a:latin typeface="Palatino Linotype"/>
              <a:cs typeface="Palatino Linotype"/>
            </a:endParaRPr>
          </a:p>
          <a:p>
            <a:pPr marL="901065">
              <a:lnSpc>
                <a:spcPct val="100000"/>
              </a:lnSpc>
              <a:spcBef>
                <a:spcPts val="80"/>
              </a:spcBef>
              <a:tabLst>
                <a:tab pos="1186815" algn="l"/>
              </a:tabLst>
            </a:pPr>
            <a:r>
              <a:rPr sz="2750" spc="-50" dirty="0">
                <a:latin typeface="Calibri"/>
                <a:cs typeface="Calibri"/>
              </a:rPr>
              <a:t>-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i="1" dirty="0">
                <a:latin typeface="Palatino Linotype"/>
                <a:cs typeface="Palatino Linotype"/>
              </a:rPr>
              <a:t>Chinedu</a:t>
            </a:r>
            <a:r>
              <a:rPr sz="2750" i="1" spc="140" dirty="0">
                <a:latin typeface="Palatino Linotype"/>
                <a:cs typeface="Palatino Linotype"/>
              </a:rPr>
              <a:t> </a:t>
            </a:r>
            <a:r>
              <a:rPr sz="2750" i="1" spc="-10" dirty="0">
                <a:latin typeface="Palatino Linotype"/>
                <a:cs typeface="Palatino Linotype"/>
              </a:rPr>
              <a:t>Godswill</a:t>
            </a:r>
            <a:endParaRPr sz="27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957F77-3CD6-91E4-023E-D19E5376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purple building with purple windows&#10;&#10;AI-generated content may be incorrect.">
            <a:extLst>
              <a:ext uri="{FF2B5EF4-FFF2-40B4-BE49-F238E27FC236}">
                <a16:creationId xmlns:a16="http://schemas.microsoft.com/office/drawing/2014/main" id="{3FBEFE7A-776A-597A-AA50-D21C912E4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32"/>
            <a:ext cx="12192000" cy="666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9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B7DCC-337D-835A-7C5C-9F5C68125A82}"/>
              </a:ext>
            </a:extLst>
          </p:cNvPr>
          <p:cNvSpPr txBox="1"/>
          <p:nvPr/>
        </p:nvSpPr>
        <p:spPr>
          <a:xfrm>
            <a:off x="3469821" y="204106"/>
            <a:ext cx="525508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PROJECT IDEA / BACKGROUND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F4AA33-D986-D4E6-FE33-0DF87E6FCC72}"/>
              </a:ext>
            </a:extLst>
          </p:cNvPr>
          <p:cNvSpPr txBox="1"/>
          <p:nvPr/>
        </p:nvSpPr>
        <p:spPr>
          <a:xfrm>
            <a:off x="255182" y="845220"/>
            <a:ext cx="1168853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>
                <a:solidFill>
                  <a:schemeClr val="bg1"/>
                </a:solidFill>
                <a:latin typeface="Candara"/>
              </a:rPr>
              <a:t>People try to find different services during different seasons, for </a:t>
            </a:r>
            <a:r>
              <a:rPr lang="en-US" sz="2400" b="1" dirty="0">
                <a:solidFill>
                  <a:schemeClr val="bg1"/>
                </a:solidFill>
                <a:latin typeface="Candara"/>
              </a:rPr>
              <a:t>some occasions, or throughout the year as well.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Services include snow removal, leaves raking, fence painting, and many more, but they are not always budget friendly or reachable quickly.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Different ideas to enter this market with a number of different questions making their way into the golden circle, like: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Why do we need to step into this market, but in a different way to change the game around and make an impact as well?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Who are the people that need certain services and the ones that could provide those services, and how can they meet?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What constraints we currently face, and what can we do to make sure that these services stay budget friendly, and reachable?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F0C7C-CA11-9B90-1BB7-BDD8A31C0E90}"/>
              </a:ext>
            </a:extLst>
          </p:cNvPr>
          <p:cNvSpPr txBox="1"/>
          <p:nvPr/>
        </p:nvSpPr>
        <p:spPr>
          <a:xfrm>
            <a:off x="1624969" y="6216689"/>
            <a:ext cx="894482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Candara"/>
              </a:rPr>
              <a:t>"Instead of you approaching them, let them approach you"</a:t>
            </a:r>
          </a:p>
        </p:txBody>
      </p:sp>
    </p:spTree>
    <p:extLst>
      <p:ext uri="{BB962C8B-B14F-4D97-AF65-F5344CB8AC3E}">
        <p14:creationId xmlns:p14="http://schemas.microsoft.com/office/powerpoint/2010/main" val="200961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02A8E-B019-2000-1217-7215B67C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D20F4-BDB0-AD88-B7F6-209D471477A7}"/>
              </a:ext>
            </a:extLst>
          </p:cNvPr>
          <p:cNvSpPr txBox="1"/>
          <p:nvPr/>
        </p:nvSpPr>
        <p:spPr>
          <a:xfrm>
            <a:off x="3469821" y="204106"/>
            <a:ext cx="525508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PROJECT IDEA / BACKGROUND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FE09E2-72B8-B93D-0A43-29F30FCE2880}"/>
              </a:ext>
            </a:extLst>
          </p:cNvPr>
          <p:cNvSpPr txBox="1"/>
          <p:nvPr/>
        </p:nvSpPr>
        <p:spPr>
          <a:xfrm>
            <a:off x="255182" y="977742"/>
            <a:ext cx="11688535" cy="45704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2870"/>
              </a:lnSpc>
              <a:spcBef>
                <a:spcPts val="105"/>
              </a:spcBef>
              <a:buFont typeface="Arial"/>
              <a:buChar char="•"/>
            </a:pPr>
            <a:endParaRPr lang="en-US" sz="3200" b="1" dirty="0">
              <a:solidFill>
                <a:schemeClr val="bg1"/>
              </a:solidFill>
              <a:latin typeface="Candara"/>
            </a:endParaRPr>
          </a:p>
          <a:p>
            <a:pPr marL="754380" marR="386715" lvl="1" indent="-284480">
              <a:lnSpc>
                <a:spcPts val="2930"/>
              </a:lnSpc>
              <a:spcBef>
                <a:spcPts val="45"/>
              </a:spcBef>
              <a:buFont typeface="Courier New,monospace"/>
              <a:buChar char="o"/>
            </a:pPr>
            <a:r>
              <a:rPr lang="en-US" sz="3200" b="1" dirty="0">
                <a:solidFill>
                  <a:schemeClr val="bg1"/>
                </a:solidFill>
                <a:latin typeface="Candara"/>
              </a:rPr>
              <a:t>WHY: To bridge the gap between workers and basic home jobs while trying to eliminate the middle-men or big businesses that charge massive amounts.</a:t>
            </a:r>
            <a:endParaRPr lang="en-US" sz="3200" dirty="0">
              <a:solidFill>
                <a:schemeClr val="bg1"/>
              </a:solidFill>
              <a:latin typeface="Candara"/>
            </a:endParaRPr>
          </a:p>
          <a:p>
            <a:pPr marL="469900" marR="386715" lvl="1">
              <a:lnSpc>
                <a:spcPts val="2930"/>
              </a:lnSpc>
              <a:spcBef>
                <a:spcPts val="45"/>
              </a:spcBef>
            </a:pPr>
            <a:endParaRPr lang="en-US" sz="3200" b="1" dirty="0">
              <a:solidFill>
                <a:schemeClr val="bg1"/>
              </a:solidFill>
              <a:latin typeface="Candara"/>
            </a:endParaRPr>
          </a:p>
          <a:p>
            <a:pPr marL="754380" marR="386715" lvl="1" indent="-284480">
              <a:lnSpc>
                <a:spcPts val="2930"/>
              </a:lnSpc>
              <a:spcBef>
                <a:spcPts val="45"/>
              </a:spcBef>
              <a:buFont typeface="Courier New,monospace"/>
              <a:buChar char="o"/>
            </a:pPr>
            <a:r>
              <a:rPr lang="en-US" sz="3200" b="1" dirty="0">
                <a:solidFill>
                  <a:schemeClr val="bg1"/>
                </a:solidFill>
                <a:latin typeface="Candara"/>
              </a:rPr>
              <a:t>WHO: Home-owners willing to get a gig done and students or workers skilled in basic home jobs, that can meet </a:t>
            </a:r>
            <a:r>
              <a:rPr lang="en-US" sz="3200" b="1">
                <a:solidFill>
                  <a:schemeClr val="bg1"/>
                </a:solidFill>
                <a:latin typeface="Candara"/>
              </a:rPr>
              <a:t>through a common social source.</a:t>
            </a:r>
          </a:p>
          <a:p>
            <a:pPr marL="469900" marR="386715" lvl="1">
              <a:lnSpc>
                <a:spcPts val="2930"/>
              </a:lnSpc>
              <a:spcBef>
                <a:spcPts val="45"/>
              </a:spcBef>
            </a:pPr>
            <a:endParaRPr lang="en-US" sz="3200" dirty="0">
              <a:solidFill>
                <a:schemeClr val="bg1"/>
              </a:solidFill>
              <a:latin typeface="Candara"/>
            </a:endParaRPr>
          </a:p>
          <a:p>
            <a:pPr marL="754380" marR="386715" lvl="1" indent="-284480">
              <a:lnSpc>
                <a:spcPts val="2930"/>
              </a:lnSpc>
              <a:spcBef>
                <a:spcPts val="45"/>
              </a:spcBef>
              <a:buFont typeface="Courier New,monospace"/>
              <a:buChar char="o"/>
            </a:pPr>
            <a:r>
              <a:rPr lang="en-US" sz="3200" b="1" dirty="0">
                <a:solidFill>
                  <a:schemeClr val="bg1"/>
                </a:solidFill>
                <a:latin typeface="Candara"/>
              </a:rPr>
              <a:t>WHAT: A simple web-based software application where customers can post gigs and workers can accept them to </a:t>
            </a:r>
            <a:r>
              <a:rPr lang="en-US" sz="3200" b="1">
                <a:solidFill>
                  <a:schemeClr val="bg1"/>
                </a:solidFill>
                <a:latin typeface="Candara"/>
              </a:rPr>
              <a:t>earn money, but time and skill constraints will exist for us.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69388-F6D5-2674-355A-2FD71ACB1A7E}"/>
              </a:ext>
            </a:extLst>
          </p:cNvPr>
          <p:cNvSpPr txBox="1"/>
          <p:nvPr/>
        </p:nvSpPr>
        <p:spPr>
          <a:xfrm>
            <a:off x="1624969" y="6216689"/>
            <a:ext cx="894482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Candara"/>
              </a:rPr>
              <a:t>"Instead of you approaching them, let them approach you"</a:t>
            </a:r>
          </a:p>
        </p:txBody>
      </p:sp>
    </p:spTree>
    <p:extLst>
      <p:ext uri="{BB962C8B-B14F-4D97-AF65-F5344CB8AC3E}">
        <p14:creationId xmlns:p14="http://schemas.microsoft.com/office/powerpoint/2010/main" val="232120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FA27B5-3294-0CFC-5BCE-A998D75AAC1D}"/>
              </a:ext>
            </a:extLst>
          </p:cNvPr>
          <p:cNvSpPr/>
          <p:nvPr/>
        </p:nvSpPr>
        <p:spPr>
          <a:xfrm>
            <a:off x="4191000" y="174915"/>
            <a:ext cx="3690258" cy="42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0E4D3-D524-2B8F-32EF-3BE95566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301120"/>
            <a:ext cx="5257800" cy="165625"/>
          </a:xfrm>
        </p:spPr>
        <p:txBody>
          <a:bodyPr/>
          <a:lstStyle/>
          <a:p>
            <a:pPr algn="ctr"/>
            <a:r>
              <a:rPr lang="en-US" dirty="0"/>
              <a:t>Kanban board 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FE854-4EA2-92F7-BEE6-4A66864F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" y="6387658"/>
            <a:ext cx="10815320" cy="307777"/>
          </a:xfrm>
        </p:spPr>
        <p:txBody>
          <a:bodyPr>
            <a:normAutofit fontScale="92500" lnSpcReduction="20000"/>
          </a:bodyPr>
          <a:lstStyle/>
          <a:p>
            <a:r>
              <a:rPr lang="en-CA" dirty="0">
                <a:hlinkClick r:id="rId2"/>
              </a:rPr>
              <a:t>Backlog · Kanban Board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2E227-5C9B-6952-0F72-75F90E247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3" y="1232282"/>
            <a:ext cx="10591800" cy="505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9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DC33-8442-F74C-9ED0-21B9F248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E545F1-D144-A7C0-23B2-4FAF13203F92}"/>
              </a:ext>
            </a:extLst>
          </p:cNvPr>
          <p:cNvSpPr/>
          <p:nvPr/>
        </p:nvSpPr>
        <p:spPr>
          <a:xfrm>
            <a:off x="2645228" y="185801"/>
            <a:ext cx="6912428" cy="434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8B216-B93A-8C7B-23E9-089875AB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471" y="366434"/>
            <a:ext cx="7815943" cy="34997"/>
          </a:xfrm>
        </p:spPr>
        <p:txBody>
          <a:bodyPr/>
          <a:lstStyle/>
          <a:p>
            <a:pPr algn="ctr"/>
            <a:r>
              <a:rPr lang="en-US" dirty="0"/>
              <a:t>Minimum Viable Products 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C34CE-3E19-0C20-B355-8F7DD5797C2A}"/>
              </a:ext>
            </a:extLst>
          </p:cNvPr>
          <p:cNvSpPr txBox="1"/>
          <p:nvPr/>
        </p:nvSpPr>
        <p:spPr>
          <a:xfrm>
            <a:off x="374610" y="2330174"/>
            <a:ext cx="572036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3200" b="1" i="1" u="sng"/>
              <a:t>Dual Portal System</a:t>
            </a: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r>
              <a:rPr lang="en-US" sz="3200" b="1" i="1" u="sng"/>
              <a:t>Customers Posting Gigs</a:t>
            </a: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r>
              <a:rPr lang="en-US" sz="3200" b="1" i="1" u="sng"/>
              <a:t>Workers Accepting Gigs</a:t>
            </a: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r>
              <a:rPr lang="en-US" sz="3200" b="1" i="1" u="sng"/>
              <a:t>Bargaining Feature</a:t>
            </a: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endParaRPr lang="en-US" sz="3200" b="1" i="1" u="sng" dirty="0"/>
          </a:p>
          <a:p>
            <a:pPr marL="457200" indent="-457200">
              <a:buFont typeface="Wingdings"/>
              <a:buChar char="Ø"/>
            </a:pPr>
            <a:r>
              <a:rPr lang="en-US" sz="3200" b="1" i="1" u="sng"/>
              <a:t>In-App Chat Function</a:t>
            </a:r>
            <a:endParaRPr lang="en-US" sz="3200" b="1" u="sng" dirty="0"/>
          </a:p>
        </p:txBody>
      </p:sp>
      <p:pic>
        <p:nvPicPr>
          <p:cNvPr id="6" name="Picture 5" descr="A finger touching a wooden block&#10;&#10;AI-generated content may be incorrect.">
            <a:extLst>
              <a:ext uri="{FF2B5EF4-FFF2-40B4-BE49-F238E27FC236}">
                <a16:creationId xmlns:a16="http://schemas.microsoft.com/office/drawing/2014/main" id="{8899C764-2E1E-3FA0-6C7A-81B0BFD2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45" t="3202" r="245" b="6355"/>
          <a:stretch>
            <a:fillRect/>
          </a:stretch>
        </p:blipFill>
        <p:spPr>
          <a:xfrm>
            <a:off x="6510057" y="2538414"/>
            <a:ext cx="4573094" cy="4114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37952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7A05-D02D-3B42-CB49-15D23F49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303" y="1006797"/>
            <a:ext cx="2942210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Architecture &amp; Design</a:t>
            </a:r>
            <a:endParaRPr lang="en-CA" dirty="0">
              <a:solidFill>
                <a:srgbClr val="FF0000"/>
              </a:solidFill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261CF8F-893B-DD4B-7240-783C045D5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53676"/>
              </p:ext>
            </p:extLst>
          </p:nvPr>
        </p:nvGraphicFramePr>
        <p:xfrm>
          <a:off x="4807778" y="1459603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92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DCDF8-077A-A603-1E13-BE349DEB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846D-82CC-2600-E532-DEA88474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303" y="1006797"/>
            <a:ext cx="2942210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Architecture &amp; Design</a:t>
            </a:r>
            <a:endParaRPr lang="en-CA" dirty="0">
              <a:solidFill>
                <a:srgbClr val="FF0000"/>
              </a:solidFill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EAB1B02-46AD-4574-671B-F2E1A37EA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6961223"/>
              </p:ext>
            </p:extLst>
          </p:nvPr>
        </p:nvGraphicFramePr>
        <p:xfrm>
          <a:off x="4807778" y="1382299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820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72A3A-3A61-942F-0FD1-A5DD9709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39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tan building with a arched doorway&#10;&#10;AI-generated content may be incorrect.">
            <a:extLst>
              <a:ext uri="{FF2B5EF4-FFF2-40B4-BE49-F238E27FC236}">
                <a16:creationId xmlns:a16="http://schemas.microsoft.com/office/drawing/2014/main" id="{0EB34CA7-6163-7332-10C2-FA7644D06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5" y="467096"/>
            <a:ext cx="5998030" cy="5912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2C7BDB-D858-8D74-C983-AC01E92EB3FB}"/>
              </a:ext>
            </a:extLst>
          </p:cNvPr>
          <p:cNvSpPr txBox="1"/>
          <p:nvPr/>
        </p:nvSpPr>
        <p:spPr>
          <a:xfrm>
            <a:off x="6590353" y="2351945"/>
            <a:ext cx="5219619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Any Questions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r>
              <a:rPr lang="en-US" sz="3200" dirty="0"/>
              <a:t>Any </a:t>
            </a:r>
            <a:r>
              <a:rPr lang="en-US" sz="3200"/>
              <a:t>Suggestions?</a:t>
            </a:r>
          </a:p>
          <a:p>
            <a:endParaRPr lang="en-US" sz="3200" dirty="0"/>
          </a:p>
          <a:p>
            <a:r>
              <a:rPr lang="en-US" sz="3200"/>
              <a:t>Any Specifications?</a:t>
            </a:r>
          </a:p>
          <a:p>
            <a:endParaRPr lang="en-US" sz="3200" dirty="0"/>
          </a:p>
          <a:p>
            <a:r>
              <a:rPr lang="en-US" sz="3200" dirty="0"/>
              <a:t>Any Recomm</a:t>
            </a:r>
            <a:r>
              <a:rPr lang="en-US" sz="3200"/>
              <a:t>endations?</a:t>
            </a:r>
          </a:p>
          <a:p>
            <a:endParaRPr lang="en-US" sz="32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625" y="552323"/>
            <a:ext cx="4462526" cy="344335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686550" y="334009"/>
            <a:ext cx="4905375" cy="3886200"/>
          </a:xfrm>
          <a:custGeom>
            <a:avLst/>
            <a:gdLst/>
            <a:ahLst/>
            <a:cxnLst/>
            <a:rect l="l" t="t" r="r" b="b"/>
            <a:pathLst>
              <a:path w="4905375" h="3886200">
                <a:moveTo>
                  <a:pt x="4722495" y="182880"/>
                </a:moveTo>
                <a:lnTo>
                  <a:pt x="182880" y="182880"/>
                </a:lnTo>
                <a:lnTo>
                  <a:pt x="182880" y="228600"/>
                </a:lnTo>
                <a:lnTo>
                  <a:pt x="182880" y="3657600"/>
                </a:lnTo>
                <a:lnTo>
                  <a:pt x="182880" y="3703320"/>
                </a:lnTo>
                <a:lnTo>
                  <a:pt x="4722495" y="3703320"/>
                </a:lnTo>
                <a:lnTo>
                  <a:pt x="4722495" y="3657600"/>
                </a:lnTo>
                <a:lnTo>
                  <a:pt x="228600" y="3657600"/>
                </a:lnTo>
                <a:lnTo>
                  <a:pt x="228600" y="228600"/>
                </a:lnTo>
                <a:lnTo>
                  <a:pt x="4676775" y="228600"/>
                </a:lnTo>
                <a:lnTo>
                  <a:pt x="4676775" y="3656965"/>
                </a:lnTo>
                <a:lnTo>
                  <a:pt x="4722495" y="3656965"/>
                </a:lnTo>
                <a:lnTo>
                  <a:pt x="4722495" y="228600"/>
                </a:lnTo>
                <a:lnTo>
                  <a:pt x="4722495" y="227965"/>
                </a:lnTo>
                <a:lnTo>
                  <a:pt x="4722495" y="182880"/>
                </a:lnTo>
                <a:close/>
              </a:path>
              <a:path w="4905375" h="3886200">
                <a:moveTo>
                  <a:pt x="4905375" y="0"/>
                </a:moveTo>
                <a:lnTo>
                  <a:pt x="0" y="0"/>
                </a:lnTo>
                <a:lnTo>
                  <a:pt x="0" y="137160"/>
                </a:lnTo>
                <a:lnTo>
                  <a:pt x="0" y="3749040"/>
                </a:lnTo>
                <a:lnTo>
                  <a:pt x="0" y="3886200"/>
                </a:lnTo>
                <a:lnTo>
                  <a:pt x="4905375" y="3886200"/>
                </a:lnTo>
                <a:lnTo>
                  <a:pt x="4905375" y="3749040"/>
                </a:lnTo>
                <a:lnTo>
                  <a:pt x="137160" y="3749040"/>
                </a:lnTo>
                <a:lnTo>
                  <a:pt x="137160" y="137160"/>
                </a:lnTo>
                <a:lnTo>
                  <a:pt x="4768215" y="137160"/>
                </a:lnTo>
                <a:lnTo>
                  <a:pt x="4768215" y="3748405"/>
                </a:lnTo>
                <a:lnTo>
                  <a:pt x="4905375" y="3748405"/>
                </a:lnTo>
                <a:lnTo>
                  <a:pt x="4905375" y="137160"/>
                </a:lnTo>
                <a:lnTo>
                  <a:pt x="4905375" y="136525"/>
                </a:lnTo>
                <a:lnTo>
                  <a:pt x="4905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5" y="552323"/>
            <a:ext cx="4462526" cy="344335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90550" y="334009"/>
            <a:ext cx="4905375" cy="3886200"/>
          </a:xfrm>
          <a:custGeom>
            <a:avLst/>
            <a:gdLst/>
            <a:ahLst/>
            <a:cxnLst/>
            <a:rect l="l" t="t" r="r" b="b"/>
            <a:pathLst>
              <a:path w="4905375" h="3886200">
                <a:moveTo>
                  <a:pt x="4722495" y="182880"/>
                </a:moveTo>
                <a:lnTo>
                  <a:pt x="182880" y="182880"/>
                </a:lnTo>
                <a:lnTo>
                  <a:pt x="182880" y="228600"/>
                </a:lnTo>
                <a:lnTo>
                  <a:pt x="182880" y="3657600"/>
                </a:lnTo>
                <a:lnTo>
                  <a:pt x="182880" y="3703320"/>
                </a:lnTo>
                <a:lnTo>
                  <a:pt x="4722495" y="3703320"/>
                </a:lnTo>
                <a:lnTo>
                  <a:pt x="4722495" y="3657600"/>
                </a:lnTo>
                <a:lnTo>
                  <a:pt x="228600" y="3657600"/>
                </a:lnTo>
                <a:lnTo>
                  <a:pt x="228600" y="228600"/>
                </a:lnTo>
                <a:lnTo>
                  <a:pt x="4676775" y="228600"/>
                </a:lnTo>
                <a:lnTo>
                  <a:pt x="4676775" y="3656965"/>
                </a:lnTo>
                <a:lnTo>
                  <a:pt x="4722495" y="3656965"/>
                </a:lnTo>
                <a:lnTo>
                  <a:pt x="4722495" y="228600"/>
                </a:lnTo>
                <a:lnTo>
                  <a:pt x="4722495" y="227965"/>
                </a:lnTo>
                <a:lnTo>
                  <a:pt x="4722495" y="182880"/>
                </a:lnTo>
                <a:close/>
              </a:path>
              <a:path w="4905375" h="3886200">
                <a:moveTo>
                  <a:pt x="4905375" y="0"/>
                </a:moveTo>
                <a:lnTo>
                  <a:pt x="0" y="0"/>
                </a:lnTo>
                <a:lnTo>
                  <a:pt x="0" y="137160"/>
                </a:lnTo>
                <a:lnTo>
                  <a:pt x="0" y="3749040"/>
                </a:lnTo>
                <a:lnTo>
                  <a:pt x="0" y="3886200"/>
                </a:lnTo>
                <a:lnTo>
                  <a:pt x="4905375" y="3886200"/>
                </a:lnTo>
                <a:lnTo>
                  <a:pt x="4905375" y="3749040"/>
                </a:lnTo>
                <a:lnTo>
                  <a:pt x="137160" y="3749040"/>
                </a:lnTo>
                <a:lnTo>
                  <a:pt x="137160" y="137160"/>
                </a:lnTo>
                <a:lnTo>
                  <a:pt x="4768215" y="137160"/>
                </a:lnTo>
                <a:lnTo>
                  <a:pt x="4768215" y="3748405"/>
                </a:lnTo>
                <a:lnTo>
                  <a:pt x="4905375" y="3748405"/>
                </a:lnTo>
                <a:lnTo>
                  <a:pt x="4905375" y="137160"/>
                </a:lnTo>
                <a:lnTo>
                  <a:pt x="4905375" y="136525"/>
                </a:lnTo>
                <a:lnTo>
                  <a:pt x="4905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181600"/>
            <a:ext cx="12192000" cy="10668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205</TotalTime>
  <Words>385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Ion Boardroom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Kanban board </vt:lpstr>
      <vt:lpstr>Minimum Viable Products </vt:lpstr>
      <vt:lpstr>Architecture &amp; Design</vt:lpstr>
      <vt:lpstr>Architecture &amp; Design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Chiemego Nwokolo</cp:lastModifiedBy>
  <cp:revision>412</cp:revision>
  <dcterms:created xsi:type="dcterms:W3CDTF">2026-04-08T17:36:00Z</dcterms:created>
  <dcterms:modified xsi:type="dcterms:W3CDTF">2026-04-10T08:28:16Z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LastSaved">
    <vt:filetime>2026-04-08T00:00:00Z</vt:filetime>
  </property>
</Properties>
</file>